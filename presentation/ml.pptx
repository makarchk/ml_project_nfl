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4" r:id="rId10"/>
    <p:sldId id="267" r:id="rId11"/>
    <p:sldId id="263" r:id="rId12"/>
    <p:sldId id="265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8" r:id="rId63"/>
    <p:sldId id="317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3"/>
    <p:restoredTop sz="94697"/>
  </p:normalViewPr>
  <p:slideViewPr>
    <p:cSldViewPr snapToGrid="0">
      <p:cViewPr>
        <p:scale>
          <a:sx n="62" d="100"/>
          <a:sy n="62" d="100"/>
        </p:scale>
        <p:origin x="272" y="1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CBE7-F08D-CFD9-81F7-B9DB4B86B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50C9F-378D-C8B8-FB39-1ADC0691FF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D1033-7469-7E06-EB54-6EFA38EDF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5D7BF-C269-FF0A-349E-604EC6BC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16834-64C4-2C33-C2E5-DCC5881B3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23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22B80-80AC-6836-2703-BA20BB6CD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CA5E-1D19-285B-BF07-63707CD44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8576A-F8F4-A94C-C7A7-6E29DCE46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939F6-4F72-483C-F889-4714755A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0CDBC-D648-A4C3-0E15-86F79CC0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8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1B4B1-0326-72B9-CCDD-96E512D2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CC9FF-1DE1-AB7B-C228-8B67FA28F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5C5CA-B432-A626-D709-97B48F5D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1B50-C7F6-97E2-ABCC-52B1AA71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D4E54-7D75-F023-3DD4-360623BB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2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7615-3CEC-5526-DDF3-8BFFCB291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F0853-D85A-8436-4CF9-72B8E74AC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FD641-D60E-DF20-B5A4-86C2ED515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A0435-B52E-43C5-5E30-8051EABF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F2FDD-1F02-1F31-8251-679E2C3DF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1BE64-4C1B-2E12-3621-C2EFDC67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56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C517-30EB-494C-A241-5A62B0FEB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247271-B1E5-61DE-00D8-E82E6D156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B322C-CB33-E801-8893-7ACF46998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3CAD6-0D11-D481-2D8D-0887DEC438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DFF75A-0272-AAF5-EF48-6441A63CA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963AD-4C42-C7F7-5C85-3F76D91F8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2D5AC0-F9C4-6911-A529-09C6B81B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9067A-C7AA-C342-E41F-F14DD974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6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2DEF-CCA6-C822-71BD-B6E085F9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74E26-E31B-18D6-A3F3-23B22C4F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280A1-B877-4117-4318-364A6248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E5929-60B2-6225-8590-3752C32D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7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0707EE-D02E-A90C-982E-B1FBB79CE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698D70-A701-ADE6-FA1B-12F576A9F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06FCF-1484-0B1C-D005-DAE03A06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8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44E86-0437-3A6C-E9AA-64D35A370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2197A-1CCD-44BB-D98F-1ADD00FF2D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C04039-E798-F01F-C2A6-0C87DE525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99F99-224A-F498-B350-42919D4F7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763C6-93DD-3B39-EA88-41655088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819B0-A777-F330-E480-035F6121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450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BD1E-ED9B-8256-10B2-60A568550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CC708-FA39-2130-272D-76AA6FB3A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54CEF9-A7AD-4AB2-F1B5-84DBA90CB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E9DA1-A66B-648B-6211-8DCB4C11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034A5-82D9-FF3E-2AAF-4D01DCBD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5612D-6358-E517-CDFB-D449DCF3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1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CE85-6F06-6A71-87F9-9AB69B5D5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BE00E7-91C5-06D5-6553-6FE6E9830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3A590-943C-8CA9-F100-862F945DD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21AB7-2DA0-69B6-9012-5A6FE5B95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8D3DA-A147-BCA6-A81D-8BB1770E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45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55138A-063E-8787-B625-A06FF7C539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49B51-BE41-1F3A-AA43-E8DE6BB90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29D09-892C-D7E3-059E-1D6D9220E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75A67-38A0-B4DF-53E2-E5F606B14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F8BE6-0063-6AC3-2ECD-2818D856C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0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CB974F-B48C-C12B-D9D5-3C892822C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E9846-8E0E-5F5D-694B-B57FAFCC9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DA353-0513-87A7-D546-D3ACA99A1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A72B0-F749-F341-8732-9028294DE09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99EAB-9799-074C-1EE2-7A508DEF2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AF2EB-D89D-030C-7FC6-21D2B51DC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391E50-C1C5-0D4D-BEFF-729A34F00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743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4E8C7EC-1DB9-8634-E0A6-6F00A590E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86" y="4806851"/>
            <a:ext cx="7802364" cy="13234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0CB30-B322-F77F-B5D8-08844B8B9705}"/>
              </a:ext>
            </a:extLst>
          </p:cNvPr>
          <p:cNvSpPr txBox="1"/>
          <p:nvPr/>
        </p:nvSpPr>
        <p:spPr>
          <a:xfrm>
            <a:off x="690880" y="727710"/>
            <a:ext cx="71526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effectLst/>
                <a:latin typeface="Helvetica Neue" panose="02000503000000020004" pitchFamily="2" charset="0"/>
              </a:rPr>
              <a:t>NFL Big Data Bowl 2026: </a:t>
            </a:r>
            <a:br>
              <a:rPr lang="en-US" sz="2800" b="1" dirty="0">
                <a:effectLst/>
                <a:latin typeface="Helvetica Neue" panose="02000503000000020004" pitchFamily="2" charset="0"/>
              </a:rPr>
            </a:br>
            <a:r>
              <a:rPr lang="ru-RU" sz="2800" dirty="0">
                <a:effectLst/>
                <a:latin typeface="Helvetica Neue" panose="02000503000000020004" pitchFamily="2" charset="0"/>
              </a:rPr>
              <a:t>Предсказание движения игроков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C57433-6EE6-2313-7F9C-3D66788EC4E6}"/>
              </a:ext>
            </a:extLst>
          </p:cNvPr>
          <p:cNvSpPr txBox="1"/>
          <p:nvPr/>
        </p:nvSpPr>
        <p:spPr>
          <a:xfrm>
            <a:off x="690880" y="2596555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i="1" dirty="0">
                <a:effectLst/>
                <a:latin typeface="Helvetica Neue" panose="02000503000000020004" pitchFamily="2" charset="0"/>
              </a:rPr>
              <a:t>Проект по курсу </a:t>
            </a:r>
            <a:r>
              <a:rPr lang="en-US" sz="2000" i="1" dirty="0">
                <a:effectLst/>
                <a:latin typeface="Helvetica Neue" panose="02000503000000020004" pitchFamily="2" charset="0"/>
              </a:rPr>
              <a:t>Machine Learning</a:t>
            </a:r>
            <a:endParaRPr lang="en-US" sz="2000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sz="2000" b="1" dirty="0">
                <a:effectLst/>
                <a:latin typeface="Helvetica Neue" panose="02000503000000020004" pitchFamily="2" charset="0"/>
              </a:rPr>
              <a:t>Задача:</a:t>
            </a:r>
            <a:r>
              <a:rPr lang="ru-RU" sz="2000" dirty="0">
                <a:effectLst/>
                <a:latin typeface="Helvetica Neue" panose="02000503000000020004" pitchFamily="2" charset="0"/>
              </a:rPr>
              <a:t> Предсказать координаты (</a:t>
            </a:r>
            <a:r>
              <a:rPr lang="en-US" sz="2000" dirty="0">
                <a:effectLst/>
                <a:latin typeface="Helvetica Neue" panose="02000503000000020004" pitchFamily="2" charset="0"/>
              </a:rPr>
              <a:t>x, y) </a:t>
            </a:r>
            <a:r>
              <a:rPr lang="ru-RU" sz="2000" dirty="0">
                <a:effectLst/>
                <a:latin typeface="Helvetica Neue" panose="02000503000000020004" pitchFamily="2" charset="0"/>
              </a:rPr>
              <a:t>игроков </a:t>
            </a:r>
            <a:r>
              <a:rPr lang="en-US" sz="2000" dirty="0">
                <a:effectLst/>
                <a:latin typeface="Helvetica Neue" panose="02000503000000020004" pitchFamily="2" charset="0"/>
              </a:rPr>
              <a:t>NFL </a:t>
            </a:r>
            <a:r>
              <a:rPr lang="ru-RU" sz="2000" dirty="0">
                <a:effectLst/>
                <a:latin typeface="Helvetica Neue" panose="02000503000000020004" pitchFamily="2" charset="0"/>
              </a:rPr>
              <a:t>во время полёта мяча после паса</a:t>
            </a:r>
          </a:p>
          <a:p>
            <a:pPr>
              <a:buNone/>
            </a:pPr>
            <a:r>
              <a:rPr lang="ru-RU" sz="2000" b="1" dirty="0">
                <a:effectLst/>
                <a:latin typeface="Helvetica Neue" panose="02000503000000020004" pitchFamily="2" charset="0"/>
              </a:rPr>
              <a:t>Метрика:</a:t>
            </a:r>
            <a:r>
              <a:rPr lang="ru-RU" sz="2000" dirty="0">
                <a:effectLst/>
                <a:latin typeface="Helvetica Neue" panose="02000503000000020004" pitchFamily="2" charset="0"/>
              </a:rPr>
              <a:t> </a:t>
            </a:r>
            <a:r>
              <a:rPr lang="en-US" sz="2000" dirty="0">
                <a:effectLst/>
                <a:latin typeface="Helvetica Neue" panose="02000503000000020004" pitchFamily="2" charset="0"/>
              </a:rPr>
              <a:t>RMSE </a:t>
            </a:r>
            <a:r>
              <a:rPr lang="ru-RU" sz="2000" dirty="0">
                <a:effectLst/>
                <a:latin typeface="Helvetica Neue" panose="02000503000000020004" pitchFamily="2" charset="0"/>
              </a:rPr>
              <a:t>по координатам </a:t>
            </a:r>
            <a:r>
              <a:rPr lang="en-US" sz="2000" dirty="0">
                <a:effectLst/>
                <a:latin typeface="Helvetica Neue" panose="02000503000000020004" pitchFamily="2" charset="0"/>
              </a:rPr>
              <a:t>x </a:t>
            </a:r>
            <a:r>
              <a:rPr lang="ru-RU" sz="2000" dirty="0">
                <a:effectLst/>
                <a:latin typeface="Helvetica Neue" panose="02000503000000020004" pitchFamily="2" charset="0"/>
              </a:rPr>
              <a:t>и </a:t>
            </a:r>
            <a:r>
              <a:rPr lang="en-US" sz="2000" dirty="0">
                <a:effectLst/>
                <a:latin typeface="Helvetica Neue" panose="02000503000000020004" pitchFamily="2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717263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0248-3366-14B7-D3F7-4B6A0849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Постановка задачи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FE94C-ED4E-7954-D7E5-5939C1CE1CDC}"/>
              </a:ext>
            </a:extLst>
          </p:cNvPr>
          <p:cNvSpPr txBox="1"/>
          <p:nvPr/>
        </p:nvSpPr>
        <p:spPr>
          <a:xfrm>
            <a:off x="838200" y="1690688"/>
            <a:ext cx="100736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дано: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Tracking data </a:t>
            </a:r>
            <a:r>
              <a:rPr lang="ru-RU" dirty="0">
                <a:effectLst/>
                <a:latin typeface="Helvetica Neue" panose="02000503000000020004" pitchFamily="2" charset="0"/>
              </a:rPr>
              <a:t>игроков ДО броска мяча (позиция, скорость, ускорение, ориентация)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Место приземления мяча 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ball_land_y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Информация о целевом ресивере 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player_to_predict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предсказываем: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Координаты </a:t>
            </a:r>
            <a:r>
              <a:rPr lang="en-US" dirty="0">
                <a:effectLst/>
                <a:latin typeface="Helvetica Neue" panose="02000503000000020004" pitchFamily="2" charset="0"/>
              </a:rPr>
              <a:t>x, y </a:t>
            </a:r>
            <a:r>
              <a:rPr lang="ru-RU" dirty="0">
                <a:effectLst/>
                <a:latin typeface="Helvetica Neue" panose="02000503000000020004" pitchFamily="2" charset="0"/>
              </a:rPr>
              <a:t>каждого игрока в каждом кадре ПОСЛЕ броска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10 кадров в секунду, среднее время полёта ~1.1 секунды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Бизнес-ценность: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Анализ тактических схем защиты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Оценка качества пасов и маршрутов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Предсказание вероятности перехвата</a:t>
            </a:r>
          </a:p>
        </p:txBody>
      </p:sp>
    </p:spTree>
    <p:extLst>
      <p:ext uri="{BB962C8B-B14F-4D97-AF65-F5344CB8AC3E}">
        <p14:creationId xmlns:p14="http://schemas.microsoft.com/office/powerpoint/2010/main" val="3315797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2311-A0A6-C7DB-0FAA-7DB0072D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 датасета</a:t>
            </a:r>
            <a:br>
              <a:rPr lang="ru-RU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D263C-A28B-0830-AAE9-EBC58178DF9F}"/>
              </a:ext>
            </a:extLst>
          </p:cNvPr>
          <p:cNvSpPr txBox="1"/>
          <p:nvPr/>
        </p:nvSpPr>
        <p:spPr>
          <a:xfrm>
            <a:off x="838200" y="4616381"/>
            <a:ext cx="9448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Объём данных: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Временная компонента: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frame_id</a:t>
            </a:r>
            <a:r>
              <a:rPr lang="en-US" dirty="0">
                <a:effectLst/>
                <a:latin typeface="Helvetica Neue" panose="02000503000000020004" pitchFamily="2" charset="0"/>
              </a:rPr>
              <a:t> ( 10 FPS)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Пространственные признаки: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dirty="0">
                <a:effectLst/>
                <a:latin typeface="Helvetica Neue" panose="02000503000000020004" pitchFamily="2" charset="0"/>
              </a:rPr>
              <a:t>координаты </a:t>
            </a:r>
            <a:r>
              <a:rPr lang="en-US" dirty="0">
                <a:effectLst/>
                <a:latin typeface="Helvetica Neue" panose="02000503000000020004" pitchFamily="2" charset="0"/>
              </a:rPr>
              <a:t>x, y </a:t>
            </a:r>
            <a:r>
              <a:rPr lang="ru-RU" dirty="0">
                <a:effectLst/>
                <a:latin typeface="Helvetica Neue" panose="02000503000000020004" pitchFamily="2" charset="0"/>
              </a:rPr>
              <a:t>на поле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i="1" dirty="0">
                <a:effectLst/>
                <a:latin typeface="Helvetica Neue" panose="02000503000000020004" pitchFamily="2" charset="0"/>
              </a:rPr>
              <a:t>Датасет полностью соответствует требованиям проект</a:t>
            </a:r>
            <a:r>
              <a:rPr lang="ru-RU" dirty="0">
                <a:effectLst/>
                <a:latin typeface="Helvetica Neue" panose="02000503000000020004" pitchFamily="2" charset="0"/>
              </a:rPr>
              <a:t>а</a:t>
            </a:r>
          </a:p>
        </p:txBody>
      </p:sp>
      <p:pic>
        <p:nvPicPr>
          <p:cNvPr id="7" name="Picture 6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3B856ED9-BA0F-CDE7-8679-2E452C22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64456"/>
            <a:ext cx="7772400" cy="310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78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AEEE-5D48-3DED-1C36-D0D3FD29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EDA — </a:t>
            </a:r>
            <a:r>
              <a:rPr lang="ru-RU" b="1" dirty="0"/>
              <a:t>Распределение ролей игроков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8CE74-7889-1E18-9B58-6BD2A16C79BB}"/>
              </a:ext>
            </a:extLst>
          </p:cNvPr>
          <p:cNvSpPr txBox="1"/>
          <p:nvPr/>
        </p:nvSpPr>
        <p:spPr>
          <a:xfrm>
            <a:off x="838200" y="1838742"/>
            <a:ext cx="85547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Ключевые наблюдения: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Defensive Coverage:</a:t>
            </a:r>
            <a:r>
              <a:rPr lang="en-US" dirty="0">
                <a:effectLst/>
                <a:latin typeface="Helvetica Neue" panose="02000503000000020004" pitchFamily="2" charset="0"/>
              </a:rPr>
              <a:t> 155,397 </a:t>
            </a:r>
            <a:r>
              <a:rPr lang="ru-RU" dirty="0">
                <a:effectLst/>
                <a:latin typeface="Helvetica Neue" panose="02000503000000020004" pitchFamily="2" charset="0"/>
              </a:rPr>
              <a:t>записей (доминирует) — защитники активно реагируют на пас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Other Route Runner:</a:t>
            </a:r>
            <a:r>
              <a:rPr lang="en-US" dirty="0">
                <a:effectLst/>
                <a:latin typeface="Helvetica Neue" panose="02000503000000020004" pitchFamily="2" charset="0"/>
              </a:rPr>
              <a:t> 84,063 — </a:t>
            </a:r>
            <a:r>
              <a:rPr lang="ru-RU" dirty="0">
                <a:effectLst/>
                <a:latin typeface="Helvetica Neue" panose="02000503000000020004" pitchFamily="2" charset="0"/>
              </a:rPr>
              <a:t>другие принимающие, создающие отвлечение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Targeted Receiver:</a:t>
            </a:r>
            <a:r>
              <a:rPr lang="en-US" dirty="0">
                <a:effectLst/>
                <a:latin typeface="Helvetica Neue" panose="02000503000000020004" pitchFamily="2" charset="0"/>
              </a:rPr>
              <a:t> 23,151 — </a:t>
            </a:r>
            <a:r>
              <a:rPr lang="ru-RU" dirty="0">
                <a:effectLst/>
                <a:latin typeface="Helvetica Neue" panose="02000503000000020004" pitchFamily="2" charset="0"/>
              </a:rPr>
              <a:t>целевой принимающий (главный объект предсказания)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Passer:</a:t>
            </a:r>
            <a:r>
              <a:rPr lang="en-US" dirty="0">
                <a:effectLst/>
                <a:latin typeface="Helvetica Neue" panose="02000503000000020004" pitchFamily="2" charset="0"/>
              </a:rPr>
              <a:t> 23,103 — </a:t>
            </a:r>
            <a:r>
              <a:rPr lang="ru-RU" dirty="0">
                <a:effectLst/>
                <a:latin typeface="Helvetica Neue" panose="02000503000000020004" pitchFamily="2" charset="0"/>
              </a:rPr>
              <a:t>квотербек, бросающий мяч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Модель должна по-разному обрабатывать разные роли — целевой ресивер движется к мячу, защитники реагируют на него</a:t>
            </a:r>
          </a:p>
        </p:txBody>
      </p:sp>
    </p:spTree>
    <p:extLst>
      <p:ext uri="{BB962C8B-B14F-4D97-AF65-F5344CB8AC3E}">
        <p14:creationId xmlns:p14="http://schemas.microsoft.com/office/powerpoint/2010/main" val="71599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two people&#10;&#10;AI-generated content may be incorrect.">
            <a:extLst>
              <a:ext uri="{FF2B5EF4-FFF2-40B4-BE49-F238E27FC236}">
                <a16:creationId xmlns:a16="http://schemas.microsoft.com/office/drawing/2014/main" id="{91C3244B-AB02-B4DB-EF12-F80953BF2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72" y="329141"/>
            <a:ext cx="8695707" cy="619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026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F53B53-114B-F22C-6A76-C8ECAAEC8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6635"/>
          </a:xfrm>
        </p:spPr>
        <p:txBody>
          <a:bodyPr/>
          <a:lstStyle/>
          <a:p>
            <a:r>
              <a:rPr lang="en-US" b="1" dirty="0"/>
              <a:t>EDA — </a:t>
            </a:r>
            <a:r>
              <a:rPr lang="ru-RU" b="1" dirty="0"/>
              <a:t>Скорость и ускорение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ADCEBA-5C5F-AF01-9ACC-1F6BD782EE55}"/>
              </a:ext>
            </a:extLst>
          </p:cNvPr>
          <p:cNvSpPr txBox="1"/>
          <p:nvPr/>
        </p:nvSpPr>
        <p:spPr>
          <a:xfrm>
            <a:off x="838200" y="1720840"/>
            <a:ext cx="887984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Статистика скоростей: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Средняя скорость: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3.04 ярда/сек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Распределение: правосторонний скос (много медленных, мало быстрых)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Максимум: ~12 ярдов/сек (спринт)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 ролям игроков: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Targeted Receiver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и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Other Route Runner</a:t>
            </a:r>
            <a:r>
              <a:rPr lang="en-US" dirty="0">
                <a:effectLst/>
                <a:latin typeface="Helvetica Neue" panose="02000503000000020004" pitchFamily="2" charset="0"/>
              </a:rPr>
              <a:t>: ~4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ярда/сек (бегут маршруты)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Defensive Coverage</a:t>
            </a:r>
            <a:r>
              <a:rPr lang="en-US" dirty="0">
                <a:effectLst/>
                <a:latin typeface="Helvetica Neue" panose="02000503000000020004" pitchFamily="2" charset="0"/>
              </a:rPr>
              <a:t>: ~3.5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ярда/сек (реагируют на движение)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Passer</a:t>
            </a:r>
            <a:r>
              <a:rPr lang="en-US" dirty="0">
                <a:effectLst/>
                <a:latin typeface="Helvetica Neue" panose="02000503000000020004" pitchFamily="2" charset="0"/>
              </a:rPr>
              <a:t>: ~1.5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ярда/сек (почти неподвижен)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Скорость — ключевой предиктор! </a:t>
            </a:r>
            <a:r>
              <a:rPr lang="en-US" dirty="0">
                <a:effectLst/>
                <a:latin typeface="Helvetica Neue" panose="02000503000000020004" pitchFamily="2" charset="0"/>
              </a:rPr>
              <a:t>Offense </a:t>
            </a:r>
            <a:r>
              <a:rPr lang="ru-RU" dirty="0">
                <a:effectLst/>
                <a:latin typeface="Helvetica Neue" panose="02000503000000020004" pitchFamily="2" charset="0"/>
              </a:rPr>
              <a:t>быстрее </a:t>
            </a:r>
            <a:r>
              <a:rPr lang="en-US" dirty="0">
                <a:effectLst/>
                <a:latin typeface="Helvetica Neue" panose="02000503000000020004" pitchFamily="2" charset="0"/>
              </a:rPr>
              <a:t>Defense </a:t>
            </a:r>
            <a:r>
              <a:rPr lang="ru-RU" dirty="0">
                <a:effectLst/>
                <a:latin typeface="Helvetica Neue" panose="02000503000000020004" pitchFamily="2" charset="0"/>
              </a:rPr>
              <a:t>на ~1 ярд/сек</a:t>
            </a:r>
          </a:p>
        </p:txBody>
      </p:sp>
    </p:spTree>
    <p:extLst>
      <p:ext uri="{BB962C8B-B14F-4D97-AF65-F5344CB8AC3E}">
        <p14:creationId xmlns:p14="http://schemas.microsoft.com/office/powerpoint/2010/main" val="2119460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several graphs&#10;&#10;AI-generated content may be incorrect.">
            <a:extLst>
              <a:ext uri="{FF2B5EF4-FFF2-40B4-BE49-F238E27FC236}">
                <a16:creationId xmlns:a16="http://schemas.microsoft.com/office/drawing/2014/main" id="{00D07505-0B6C-8E09-5EC2-2E73A7329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070" y="320040"/>
            <a:ext cx="8734699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756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2A71-20CB-3765-8568-A0C7C9B64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CA9C8C-9C12-E6D9-4361-2CB40F083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795"/>
          </a:xfrm>
        </p:spPr>
        <p:txBody>
          <a:bodyPr>
            <a:normAutofit/>
          </a:bodyPr>
          <a:lstStyle/>
          <a:p>
            <a:r>
              <a:rPr lang="en-US" b="1" dirty="0"/>
              <a:t>EDA — </a:t>
            </a:r>
            <a:r>
              <a:rPr lang="ru-RU" b="1" dirty="0"/>
              <a:t>Время полёта мяча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85EE2-F5DE-93C8-1667-71D380EED7A3}"/>
              </a:ext>
            </a:extLst>
          </p:cNvPr>
          <p:cNvSpPr txBox="1"/>
          <p:nvPr/>
        </p:nvSpPr>
        <p:spPr>
          <a:xfrm>
            <a:off x="838200" y="1137920"/>
            <a:ext cx="89204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Среднее: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11.3 кадров</a:t>
            </a:r>
            <a:r>
              <a:rPr lang="ru-RU" dirty="0">
                <a:effectLst/>
                <a:latin typeface="Helvetica Neue" panose="02000503000000020004" pitchFamily="2" charset="0"/>
              </a:rPr>
              <a:t> (~1.13 секунды)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Медиана: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10 кадров</a:t>
            </a:r>
            <a:r>
              <a:rPr lang="ru-RU" dirty="0">
                <a:effectLst/>
                <a:latin typeface="Helvetica Neue" panose="02000503000000020004" pitchFamily="2" charset="0"/>
              </a:rPr>
              <a:t> (1 секунда)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Диапазон: 5–94 кадра (0.5–9.4 секунды)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75% розыгрышей: ≤13 кадров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Большинство пасов — короткие (</a:t>
            </a:r>
            <a:r>
              <a:rPr lang="en-US" dirty="0">
                <a:effectLst/>
                <a:latin typeface="Helvetica Neue" panose="02000503000000020004" pitchFamily="2" charset="0"/>
              </a:rPr>
              <a:t>quick passes)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Модель должна хорошо работать на коротких последовательностях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Длинные пасы (&gt;30 кадров) — редкие, но сложные случаи4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69E1DAAA-6D5C-94AF-CBE1-13D8CEFB3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0242"/>
            <a:ext cx="7772400" cy="274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80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DF11-05E3-67C9-117E-A669F9AF0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A1D5F8-72E5-DFBB-101C-7EBEC3C91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/>
          <a:lstStyle/>
          <a:p>
            <a:r>
              <a:rPr lang="en-US" b="1" dirty="0"/>
              <a:t>EDA — </a:t>
            </a:r>
            <a:r>
              <a:rPr lang="ru-RU" b="1" dirty="0"/>
              <a:t>Позиции на поле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5C4BED-F1AF-89F0-29C5-A4CDA7F52F1D}"/>
              </a:ext>
            </a:extLst>
          </p:cNvPr>
          <p:cNvSpPr txBox="1"/>
          <p:nvPr/>
        </p:nvSpPr>
        <p:spPr>
          <a:xfrm>
            <a:off x="838200" y="1499539"/>
            <a:ext cx="803365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Наблюдения: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Игроки концентрируются в центре поля (</a:t>
            </a:r>
            <a:r>
              <a:rPr lang="en-US" dirty="0">
                <a:effectLst/>
                <a:latin typeface="Helvetica Neue" panose="02000503000000020004" pitchFamily="2" charset="0"/>
              </a:rPr>
              <a:t>y ≈ 26.65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ярдов)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Горизонтальные "полосы" — типичные построения до паса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x </a:t>
            </a:r>
            <a:r>
              <a:rPr lang="ru-RU" dirty="0">
                <a:effectLst/>
                <a:latin typeface="Helvetica Neue" panose="02000503000000020004" pitchFamily="2" charset="0"/>
              </a:rPr>
              <a:t>координата варьируется широко (зависит от позиции на поле)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Корреляции (</a:t>
            </a:r>
            <a:r>
              <a:rPr lang="en-US" b="1" dirty="0">
                <a:effectLst/>
                <a:latin typeface="Helvetica Neue" panose="02000503000000020004" pitchFamily="2" charset="0"/>
              </a:rPr>
              <a:t>Image 4):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x ↔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0.88</a:t>
            </a:r>
            <a:r>
              <a:rPr lang="en-US" dirty="0">
                <a:effectLst/>
                <a:latin typeface="Helvetica Neue" panose="02000503000000020004" pitchFamily="2" charset="0"/>
              </a:rPr>
              <a:t> (</a:t>
            </a:r>
            <a:r>
              <a:rPr lang="ru-RU" dirty="0">
                <a:effectLst/>
                <a:latin typeface="Helvetica Neue" panose="02000503000000020004" pitchFamily="2" charset="0"/>
              </a:rPr>
              <a:t>сильная связь!)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x ↔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absolute_yardline</a:t>
            </a:r>
            <a:r>
              <a:rPr lang="en-US" dirty="0">
                <a:effectLst/>
                <a:latin typeface="Helvetica Neue" panose="02000503000000020004" pitchFamily="2" charset="0"/>
              </a:rPr>
              <a:t>: 0</a:t>
            </a:r>
            <a:r>
              <a:rPr lang="en-US" b="1" dirty="0">
                <a:effectLst/>
                <a:latin typeface="Helvetica Neue" panose="02000503000000020004" pitchFamily="2" charset="0"/>
              </a:rPr>
              <a:t>.94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Скорость и ускорение слабо коррелируют с позицией</a:t>
            </a:r>
          </a:p>
        </p:txBody>
      </p:sp>
    </p:spTree>
    <p:extLst>
      <p:ext uri="{BB962C8B-B14F-4D97-AF65-F5344CB8AC3E}">
        <p14:creationId xmlns:p14="http://schemas.microsoft.com/office/powerpoint/2010/main" val="1114621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lage of graphs&#10;&#10;AI-generated content may be incorrect.">
            <a:extLst>
              <a:ext uri="{FF2B5EF4-FFF2-40B4-BE49-F238E27FC236}">
                <a16:creationId xmlns:a16="http://schemas.microsoft.com/office/drawing/2014/main" id="{5C34F74E-C73F-3BCF-CCB6-4A2441FCC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030" y="0"/>
            <a:ext cx="77119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11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5526-7A8C-6295-7CFB-0E36BADF5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A03C03-904A-C4CA-8BD4-99CA1AE2B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6516"/>
          </a:xfrm>
        </p:spPr>
        <p:txBody>
          <a:bodyPr/>
          <a:lstStyle/>
          <a:p>
            <a:r>
              <a:rPr lang="en-US" b="1" dirty="0"/>
              <a:t>EDA — </a:t>
            </a:r>
            <a:r>
              <a:rPr lang="ru-RU" b="1" dirty="0"/>
              <a:t>Расстояние до мяча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AC8D2-46B9-52B8-1ABA-A9CA866FF52B}"/>
              </a:ext>
            </a:extLst>
          </p:cNvPr>
          <p:cNvSpPr txBox="1"/>
          <p:nvPr/>
        </p:nvSpPr>
        <p:spPr>
          <a:xfrm>
            <a:off x="838200" y="1231642"/>
            <a:ext cx="831513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Средняя дистанция до места приземления: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Targeted Receiver:</a:t>
            </a:r>
            <a:r>
              <a:rPr lang="en-US" dirty="0">
                <a:effectLst/>
                <a:latin typeface="Helvetica Neue" panose="02000503000000020004" pitchFamily="2" charset="0"/>
              </a:rPr>
              <a:t> ~12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ярдов (ближе всех к мячу)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Defensive Coverage:</a:t>
            </a:r>
            <a:r>
              <a:rPr lang="en-US" dirty="0">
                <a:effectLst/>
                <a:latin typeface="Helvetica Neue" panose="02000503000000020004" pitchFamily="2" charset="0"/>
              </a:rPr>
              <a:t> ~18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ярдов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Other Route Runner:</a:t>
            </a:r>
            <a:r>
              <a:rPr lang="en-US" dirty="0">
                <a:effectLst/>
                <a:latin typeface="Helvetica Neue" panose="02000503000000020004" pitchFamily="2" charset="0"/>
              </a:rPr>
              <a:t> ~20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ярдов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Passer:</a:t>
            </a:r>
            <a:r>
              <a:rPr lang="en-US" dirty="0">
                <a:effectLst/>
                <a:latin typeface="Helvetica Neue" panose="02000503000000020004" pitchFamily="2" charset="0"/>
              </a:rPr>
              <a:t> ~22 </a:t>
            </a:r>
            <a:r>
              <a:rPr lang="ru-RU" dirty="0">
                <a:effectLst/>
                <a:latin typeface="Helvetica Neue" panose="02000503000000020004" pitchFamily="2" charset="0"/>
              </a:rPr>
              <a:t>ярда (самый далёкий)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Целевой ресивер УЖЕ движется к мячу в момент броска — это ключевая информация для модели!</a:t>
            </a:r>
          </a:p>
        </p:txBody>
      </p:sp>
      <p:pic>
        <p:nvPicPr>
          <p:cNvPr id="6" name="Picture 5" descr="A graph and a chart&#10;&#10;AI-generated content may be incorrect.">
            <a:extLst>
              <a:ext uri="{FF2B5EF4-FFF2-40B4-BE49-F238E27FC236}">
                <a16:creationId xmlns:a16="http://schemas.microsoft.com/office/drawing/2014/main" id="{4300B624-AB48-967E-30B8-E6A65F5B3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37791"/>
            <a:ext cx="8304880" cy="2929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93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01C63-B09D-A53F-07EC-D4402218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7AC54-D5FA-0169-6156-99AD70DA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/>
          <a:lstStyle/>
          <a:p>
            <a:r>
              <a:rPr lang="ru-RU" b="1" dirty="0"/>
              <a:t>СЛАЙД 9: Анализ физики движения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3B5E2-8761-3CAA-93C7-0C2935527FFF}"/>
              </a:ext>
            </a:extLst>
          </p:cNvPr>
          <p:cNvSpPr txBox="1"/>
          <p:nvPr/>
        </p:nvSpPr>
        <p:spPr>
          <a:xfrm>
            <a:off x="838200" y="1997839"/>
            <a:ext cx="83151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Проблема выбросов: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Distance Ratio (</a:t>
            </a:r>
            <a:r>
              <a:rPr lang="ru-RU" dirty="0">
                <a:effectLst/>
                <a:latin typeface="Helvetica Neue" panose="02000503000000020004" pitchFamily="2" charset="0"/>
              </a:rPr>
              <a:t>факт/теория):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77</a:t>
            </a:r>
            <a:r>
              <a:rPr lang="ru-RU" dirty="0">
                <a:effectLst/>
                <a:latin typeface="Helvetica Neue" panose="02000503000000020004" pitchFamily="2" charset="0"/>
              </a:rPr>
              <a:t> для ресиверов,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55</a:t>
            </a:r>
            <a:r>
              <a:rPr lang="ru-RU" dirty="0">
                <a:effectLst/>
                <a:latin typeface="Helvetica Neue" panose="02000503000000020004" pitchFamily="2" charset="0"/>
              </a:rPr>
              <a:t> для защитников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Ожидаемое значение: 1.0–1.2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Причина: деление на малые скорости (игроки почти неподвижны)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Направленность к мячу: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Целевой принимающий: отклонение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87°</a:t>
            </a:r>
            <a:r>
              <a:rPr lang="ru-RU" dirty="0">
                <a:effectLst/>
                <a:latin typeface="Helvetica Neue" panose="02000503000000020004" pitchFamily="2" charset="0"/>
              </a:rPr>
              <a:t> от направления к мячу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Защитники: отклонение 94</a:t>
            </a:r>
            <a:r>
              <a:rPr lang="ru-RU" b="1" dirty="0">
                <a:effectLst/>
                <a:latin typeface="Helvetica Neue" panose="02000503000000020004" pitchFamily="2" charset="0"/>
              </a:rPr>
              <a:t>°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Вывод:</a:t>
            </a:r>
            <a:r>
              <a:rPr lang="ru-RU" dirty="0">
                <a:effectLst/>
                <a:latin typeface="Helvetica Neue" panose="02000503000000020004" pitchFamily="2" charset="0"/>
              </a:rPr>
              <a:t> Нужна фильтрация выбросов по скорости перед обучением</a:t>
            </a:r>
          </a:p>
        </p:txBody>
      </p:sp>
    </p:spTree>
    <p:extLst>
      <p:ext uri="{BB962C8B-B14F-4D97-AF65-F5344CB8AC3E}">
        <p14:creationId xmlns:p14="http://schemas.microsoft.com/office/powerpoint/2010/main" val="557767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9F5ED235-9EAF-DC19-DD74-082632924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038" y="373224"/>
            <a:ext cx="7772400" cy="577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4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E22D1-B912-3231-26A6-DD361430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/>
          <a:lstStyle/>
          <a:p>
            <a:r>
              <a:rPr lang="en-US" b="1" dirty="0"/>
              <a:t>Feature Engineering (Baseline)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7B34E2-35C1-2076-CED3-0B13AAB4A497}"/>
              </a:ext>
            </a:extLst>
          </p:cNvPr>
          <p:cNvSpPr txBox="1"/>
          <p:nvPr/>
        </p:nvSpPr>
        <p:spPr>
          <a:xfrm>
            <a:off x="838200" y="1268962"/>
            <a:ext cx="61022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Созданные признаки: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i="1" dirty="0">
                <a:effectLst/>
                <a:latin typeface="Helvetica Neue" panose="02000503000000020004" pitchFamily="2" charset="0"/>
              </a:rPr>
              <a:t>Топ признаки по важности</a:t>
            </a:r>
            <a:r>
              <a:rPr lang="en-US" i="1" dirty="0">
                <a:effectLst/>
                <a:latin typeface="Helvetica Neue" panose="02000503000000020004" pitchFamily="2" charset="0"/>
              </a:rPr>
              <a:t>: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dist_to_ball</a:t>
            </a:r>
            <a:r>
              <a:rPr lang="en-US" dirty="0">
                <a:effectLst/>
                <a:latin typeface="Helvetica Neue" panose="02000503000000020004" pitchFamily="2" charset="0"/>
              </a:rPr>
              <a:t> (</a:t>
            </a:r>
            <a:r>
              <a:rPr lang="ru-RU" dirty="0">
                <a:effectLst/>
                <a:latin typeface="Helvetica Neue" panose="02000503000000020004" pitchFamily="2" charset="0"/>
              </a:rPr>
              <a:t>корр. 1.0)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expected_error_to_ball</a:t>
            </a:r>
            <a:r>
              <a:rPr lang="en-US" dirty="0">
                <a:effectLst/>
                <a:latin typeface="Helvetica Neue" panose="02000503000000020004" pitchFamily="2" charset="0"/>
              </a:rPr>
              <a:t> (0.95)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dist_to_ball_y</a:t>
            </a:r>
            <a:r>
              <a:rPr lang="en-US" dirty="0">
                <a:effectLst/>
                <a:latin typeface="Helvetica Neue" panose="02000503000000020004" pitchFamily="2" charset="0"/>
              </a:rPr>
              <a:t> (0.78)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697131-BE6D-29E8-E9A0-2FAE30C4F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04716"/>
            <a:ext cx="5444931" cy="348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88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3679-921E-F7EA-8376-3CD9FEE2A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9193"/>
          </a:xfrm>
        </p:spPr>
        <p:txBody>
          <a:bodyPr/>
          <a:lstStyle/>
          <a:p>
            <a:r>
              <a:rPr lang="en-US" b="1" dirty="0"/>
              <a:t>Baseline </a:t>
            </a:r>
            <a:r>
              <a:rPr lang="ru-RU" b="1" dirty="0"/>
              <a:t>модель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578CB-6D46-7627-A8A0-342722D67E79}"/>
              </a:ext>
            </a:extLst>
          </p:cNvPr>
          <p:cNvSpPr txBox="1"/>
          <p:nvPr/>
        </p:nvSpPr>
        <p:spPr>
          <a:xfrm>
            <a:off x="838200" y="1344410"/>
            <a:ext cx="71939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Архитектура: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Две отдельные модели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XGBoost</a:t>
            </a:r>
            <a:r>
              <a:rPr lang="en-US" dirty="0">
                <a:effectLst/>
                <a:latin typeface="Helvetica Neue" panose="02000503000000020004" pitchFamily="2" charset="0"/>
              </a:rPr>
              <a:t>: </a:t>
            </a:r>
            <a:r>
              <a:rPr lang="ru-RU" dirty="0">
                <a:effectLst/>
                <a:latin typeface="Helvetica Neue" panose="02000503000000020004" pitchFamily="2" charset="0"/>
              </a:rPr>
              <a:t>одна для </a:t>
            </a:r>
            <a:r>
              <a:rPr lang="en-US" dirty="0">
                <a:effectLst/>
                <a:latin typeface="Helvetica Neue" panose="02000503000000020004" pitchFamily="2" charset="0"/>
              </a:rPr>
              <a:t>x, </a:t>
            </a:r>
            <a:r>
              <a:rPr lang="ru-RU" dirty="0">
                <a:effectLst/>
                <a:latin typeface="Helvetica Neue" panose="02000503000000020004" pitchFamily="2" charset="0"/>
              </a:rPr>
              <a:t>одна для</a:t>
            </a:r>
            <a:r>
              <a:rPr lang="en-US" dirty="0">
                <a:effectLst/>
                <a:latin typeface="Helvetica Neue" panose="02000503000000020004" pitchFamily="2" charset="0"/>
              </a:rPr>
              <a:t> y</a:t>
            </a:r>
            <a:endParaRPr lang="en-US" dirty="0"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40 </a:t>
            </a:r>
            <a:r>
              <a:rPr lang="ru-RU" dirty="0">
                <a:effectLst/>
                <a:latin typeface="Helvetica Neue" panose="02000503000000020004" pitchFamily="2" charset="0"/>
              </a:rPr>
              <a:t>признаков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Train/Val split: 85%/15% </a:t>
            </a:r>
            <a:r>
              <a:rPr lang="ru-RU" dirty="0">
                <a:effectLst/>
                <a:latin typeface="Helvetica Neue" panose="02000503000000020004" pitchFamily="2" charset="0"/>
              </a:rPr>
              <a:t>по играм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 err="1">
                <a:effectLst/>
                <a:latin typeface="Helvetica Neue" panose="02000503000000020004" pitchFamily="2" charset="0"/>
              </a:rPr>
              <a:t>Гиперпараметры</a:t>
            </a:r>
            <a:r>
              <a:rPr lang="ru-RU" b="1" dirty="0">
                <a:effectLst/>
                <a:latin typeface="Helvetica Neue" panose="02000503000000020004" pitchFamily="2" charset="0"/>
              </a:rPr>
              <a:t>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n_estimators</a:t>
            </a:r>
            <a:r>
              <a:rPr lang="en-US" dirty="0">
                <a:effectLst/>
                <a:latin typeface=".AppleSystemUIFontMonospaced"/>
              </a:rPr>
              <a:t>=300, </a:t>
            </a:r>
            <a:r>
              <a:rPr lang="en-US" dirty="0" err="1">
                <a:effectLst/>
                <a:latin typeface=".AppleSystemUIFontMonospaced"/>
              </a:rPr>
              <a:t>max_depth</a:t>
            </a:r>
            <a:r>
              <a:rPr lang="en-US" dirty="0">
                <a:effectLst/>
                <a:latin typeface=".AppleSystemUIFontMonospaced"/>
              </a:rPr>
              <a:t>=8, </a:t>
            </a:r>
            <a:r>
              <a:rPr lang="en-US" dirty="0" err="1">
                <a:effectLst/>
                <a:latin typeface=".AppleSystemUIFontMonospaced"/>
              </a:rPr>
              <a:t>learning_rate</a:t>
            </a:r>
            <a:r>
              <a:rPr lang="en-US" dirty="0">
                <a:effectLst/>
                <a:latin typeface=".AppleSystemUIFontMonospaced"/>
              </a:rPr>
              <a:t>=0.05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subsample=0.8, </a:t>
            </a:r>
            <a:r>
              <a:rPr lang="en-US" dirty="0" err="1">
                <a:effectLst/>
                <a:latin typeface=".AppleSystemUIFontMonospaced"/>
              </a:rPr>
              <a:t>colsample_bytree</a:t>
            </a:r>
            <a:r>
              <a:rPr lang="en-US" dirty="0">
                <a:effectLst/>
                <a:latin typeface=".AppleSystemUIFontMonospaced"/>
              </a:rPr>
              <a:t>=0.8</a:t>
            </a:r>
          </a:p>
        </p:txBody>
      </p:sp>
      <p:pic>
        <p:nvPicPr>
          <p:cNvPr id="6" name="Picture 5" descr="A white line on a wall&#10;&#10;AI-generated content may be incorrect.">
            <a:extLst>
              <a:ext uri="{FF2B5EF4-FFF2-40B4-BE49-F238E27FC236}">
                <a16:creationId xmlns:a16="http://schemas.microsoft.com/office/drawing/2014/main" id="{BBF5FB01-BACF-430D-2325-29A641930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02826"/>
            <a:ext cx="7772400" cy="26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50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40D1-F9CD-155E-1F05-B7547BBA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37" y="383788"/>
            <a:ext cx="10515600" cy="810532"/>
          </a:xfrm>
        </p:spPr>
        <p:txBody>
          <a:bodyPr/>
          <a:lstStyle/>
          <a:p>
            <a:r>
              <a:rPr lang="ru-RU" b="1" dirty="0"/>
              <a:t>Визуализация траекторий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578BE-113C-BF67-0150-4E603B6ACEAC}"/>
              </a:ext>
            </a:extLst>
          </p:cNvPr>
          <p:cNvSpPr txBox="1"/>
          <p:nvPr/>
        </p:nvSpPr>
        <p:spPr>
          <a:xfrm>
            <a:off x="559837" y="1384652"/>
            <a:ext cx="85188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Примеры розыгрышей: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Розыгрыш 1 (7 кадров): короткий пас, игроки движутся к мячу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Розыгрыш 2 (3 кадра): очень короткий пас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Розыгрыш 3 (1 кадр): мгновенный пас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Наблюдения: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Зелёные линии — траектории игроков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Жёлтая звезда — место приземления мяча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Квадраты — конечные позиции</a:t>
            </a:r>
          </a:p>
        </p:txBody>
      </p:sp>
      <p:pic>
        <p:nvPicPr>
          <p:cNvPr id="6" name="Picture 5" descr="A green grid with a green line&#10;&#10;AI-generated content may be incorrect.">
            <a:extLst>
              <a:ext uri="{FF2B5EF4-FFF2-40B4-BE49-F238E27FC236}">
                <a16:creationId xmlns:a16="http://schemas.microsoft.com/office/drawing/2014/main" id="{33268FB3-B914-B553-959C-16E9B3E45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837" y="4437306"/>
            <a:ext cx="10382016" cy="181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9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63D92-9104-BA35-5023-3E9C9CA76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r>
              <a:rPr lang="ru-RU" dirty="0"/>
              <a:t>Промежуточные метрики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C673A3-E2D9-38DE-5636-632480D91581}"/>
              </a:ext>
            </a:extLst>
          </p:cNvPr>
          <p:cNvSpPr txBox="1"/>
          <p:nvPr/>
        </p:nvSpPr>
        <p:spPr>
          <a:xfrm>
            <a:off x="838200" y="1644133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Цель:</a:t>
            </a:r>
            <a:r>
              <a:rPr lang="ru-RU" dirty="0">
                <a:effectLst/>
                <a:latin typeface="Helvetica Neue" panose="02000503000000020004" pitchFamily="2" charset="0"/>
              </a:rPr>
              <a:t> снизить </a:t>
            </a:r>
            <a:r>
              <a:rPr lang="en-US" dirty="0">
                <a:effectLst/>
                <a:latin typeface="Helvetica Neue" panose="02000503000000020004" pitchFamily="2" charset="0"/>
              </a:rPr>
              <a:t>RMSE </a:t>
            </a:r>
            <a:r>
              <a:rPr lang="ru-RU" dirty="0">
                <a:effectLst/>
                <a:latin typeface="Helvetica Neue" panose="02000503000000020004" pitchFamily="2" charset="0"/>
              </a:rPr>
              <a:t>до &lt;3.0 ярдов</a:t>
            </a: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C40DD330-4B4A-7FA2-A615-A6081A468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81940"/>
            <a:ext cx="7772400" cy="248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29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6383-C0FE-02C9-CCC8-9E17CBE4E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0532"/>
          </a:xfrm>
        </p:spPr>
        <p:txBody>
          <a:bodyPr/>
          <a:lstStyle/>
          <a:p>
            <a:r>
              <a:rPr lang="ru-RU" b="1" dirty="0"/>
              <a:t>Этап 2 — Цели и задачи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F40EC7-BC14-1FAE-7BB6-4555AD0C48F0}"/>
              </a:ext>
            </a:extLst>
          </p:cNvPr>
          <p:cNvSpPr txBox="1"/>
          <p:nvPr/>
        </p:nvSpPr>
        <p:spPr>
          <a:xfrm>
            <a:off x="838199" y="1443841"/>
            <a:ext cx="93321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Задачи этапа: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Найти и проанализировать аномалии в данных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Принять решение: удалять или сохранять выбросы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Создать признаки на основе аномалий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Применить </a:t>
            </a:r>
            <a:r>
              <a:rPr lang="en-US" dirty="0">
                <a:effectLst/>
                <a:latin typeface="Helvetica Neue" panose="02000503000000020004" pitchFamily="2" charset="0"/>
              </a:rPr>
              <a:t>ML-</a:t>
            </a:r>
            <a:r>
              <a:rPr lang="ru-RU" dirty="0">
                <a:effectLst/>
                <a:latin typeface="Helvetica Neue" panose="02000503000000020004" pitchFamily="2" charset="0"/>
              </a:rPr>
              <a:t>методы для поиска сложных выбросов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Расширить </a:t>
            </a:r>
            <a:r>
              <a:rPr lang="en-US" dirty="0">
                <a:effectLst/>
                <a:latin typeface="Helvetica Neue" panose="02000503000000020004" pitchFamily="2" charset="0"/>
              </a:rPr>
              <a:t>feature engineering</a:t>
            </a: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Почему это важно для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NFL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данных: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Экстремальные скорости (рывки, спринты) — реальные игровые ситуации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Необычные позиции на поле могут быть критически важны для предсказания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Баланс: не потерять информацию </a:t>
            </a:r>
            <a:r>
              <a:rPr lang="en-US" dirty="0">
                <a:effectLst/>
                <a:latin typeface="Helvetica Neue" panose="02000503000000020004" pitchFamily="2" charset="0"/>
              </a:rPr>
              <a:t>vs </a:t>
            </a:r>
            <a:r>
              <a:rPr lang="ru-RU" dirty="0">
                <a:effectLst/>
                <a:latin typeface="Helvetica Neue" panose="02000503000000020004" pitchFamily="2" charset="0"/>
              </a:rPr>
              <a:t>не испортить модель шумом</a:t>
            </a:r>
          </a:p>
        </p:txBody>
      </p:sp>
    </p:spTree>
    <p:extLst>
      <p:ext uri="{BB962C8B-B14F-4D97-AF65-F5344CB8AC3E}">
        <p14:creationId xmlns:p14="http://schemas.microsoft.com/office/powerpoint/2010/main" val="13947857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548C2-D1C8-42EA-1519-1F475494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Статистические методы поиска выбросов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16773-7790-8CA8-6A47-D9237F37C448}"/>
              </a:ext>
            </a:extLst>
          </p:cNvPr>
          <p:cNvSpPr txBox="1"/>
          <p:nvPr/>
        </p:nvSpPr>
        <p:spPr>
          <a:xfrm>
            <a:off x="838200" y="1690688"/>
            <a:ext cx="83151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Метод 1: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Z-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оценка (</a:t>
            </a:r>
            <a:r>
              <a:rPr lang="en-US" b="1" dirty="0">
                <a:effectLst/>
                <a:latin typeface="Helvetica Neue" panose="02000503000000020004" pitchFamily="2" charset="0"/>
              </a:rPr>
              <a:t>Z-score)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z_s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stats.zscore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['s'])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outliers_z</a:t>
            </a:r>
            <a:r>
              <a:rPr lang="en-US" dirty="0">
                <a:effectLst/>
                <a:latin typeface=".AppleSystemUIFontMonospaced"/>
              </a:rPr>
              <a:t> =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</a:t>
            </a:r>
            <a:r>
              <a:rPr lang="en-US" dirty="0" err="1">
                <a:effectLst/>
                <a:latin typeface=".AppleSystemUIFontMonospaced"/>
              </a:rPr>
              <a:t>np.abs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z_s</a:t>
            </a:r>
            <a:r>
              <a:rPr lang="en-US" dirty="0">
                <a:effectLst/>
                <a:latin typeface=".AppleSystemUIFontMonospaced"/>
              </a:rPr>
              <a:t>']) &gt; 3]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Найдено: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546 выбросов</a:t>
            </a:r>
            <a:r>
              <a:rPr lang="ru-RU" dirty="0">
                <a:effectLst/>
                <a:latin typeface="Helvetica Neue" panose="02000503000000020004" pitchFamily="2" charset="0"/>
              </a:rPr>
              <a:t> по скорости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Порог: |</a:t>
            </a:r>
            <a:r>
              <a:rPr lang="en-US" dirty="0">
                <a:effectLst/>
                <a:latin typeface="Helvetica Neue" panose="02000503000000020004" pitchFamily="2" charset="0"/>
              </a:rPr>
              <a:t>Z| &gt; 3 (</a:t>
            </a:r>
            <a:r>
              <a:rPr lang="ru-RU" dirty="0">
                <a:effectLst/>
                <a:latin typeface="Helvetica Neue" panose="02000503000000020004" pitchFamily="2" charset="0"/>
              </a:rPr>
              <a:t>более 3 стандартных отклонений)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Метод 2: </a:t>
            </a:r>
            <a:r>
              <a:rPr lang="ru-RU" b="1" dirty="0" err="1">
                <a:effectLst/>
                <a:latin typeface="Helvetica Neue" panose="02000503000000020004" pitchFamily="2" charset="0"/>
              </a:rPr>
              <a:t>Межквартильный</a:t>
            </a:r>
            <a:r>
              <a:rPr lang="ru-RU" b="1" dirty="0">
                <a:effectLst/>
                <a:latin typeface="Helvetica Neue" panose="02000503000000020004" pitchFamily="2" charset="0"/>
              </a:rPr>
              <a:t> размах (</a:t>
            </a:r>
            <a:r>
              <a:rPr lang="en-US" b="1" dirty="0">
                <a:effectLst/>
                <a:latin typeface="Helvetica Neue" panose="02000503000000020004" pitchFamily="2" charset="0"/>
              </a:rPr>
              <a:t>IQR)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>
                <a:effectLst/>
                <a:latin typeface=".AppleSystemUIFontMonospaced"/>
              </a:rPr>
              <a:t>Q1, Q3 =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['s'].quantile([0.25, 0.75])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IQR = Q3 - Q1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outliers =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[(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['s'] &lt; Q1 - 1.5*IQR) | (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['s'] &gt; Q3 + 1.5*IQR)]</a:t>
            </a:r>
          </a:p>
          <a:p>
            <a:pPr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Найдено: 1</a:t>
            </a:r>
            <a:r>
              <a:rPr lang="ru-RU" b="1" dirty="0">
                <a:effectLst/>
                <a:latin typeface="Helvetica Neue" panose="02000503000000020004" pitchFamily="2" charset="0"/>
              </a:rPr>
              <a:t>66 выбросов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Более консервативный метод</a:t>
            </a:r>
          </a:p>
        </p:txBody>
      </p:sp>
    </p:spTree>
    <p:extLst>
      <p:ext uri="{BB962C8B-B14F-4D97-AF65-F5344CB8AC3E}">
        <p14:creationId xmlns:p14="http://schemas.microsoft.com/office/powerpoint/2010/main" val="3841076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rectangular blue rectangle&#10;&#10;AI-generated content may be incorrect.">
            <a:extLst>
              <a:ext uri="{FF2B5EF4-FFF2-40B4-BE49-F238E27FC236}">
                <a16:creationId xmlns:a16="http://schemas.microsoft.com/office/drawing/2014/main" id="{78C0FCF3-E852-D277-3185-9A6E07CFD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95" y="1427831"/>
            <a:ext cx="4372596" cy="3737203"/>
          </a:xfrm>
          <a:prstGeom prst="rect">
            <a:avLst/>
          </a:prstGeom>
        </p:spPr>
      </p:pic>
      <p:pic>
        <p:nvPicPr>
          <p:cNvPr id="6" name="Picture 5" descr="A graph showing a number of people&#10;&#10;AI-generated content may be incorrect.">
            <a:extLst>
              <a:ext uri="{FF2B5EF4-FFF2-40B4-BE49-F238E27FC236}">
                <a16:creationId xmlns:a16="http://schemas.microsoft.com/office/drawing/2014/main" id="{5BBE3CEE-A935-8D7F-ADA1-F784F97F4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537" y="1557531"/>
            <a:ext cx="6482030" cy="347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57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9943-3FE5-4C94-92C2-0136A880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Анализ выбросов по скорости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22511-7D83-2D95-7090-FAE23F9E143B}"/>
              </a:ext>
            </a:extLst>
          </p:cNvPr>
          <p:cNvSpPr txBox="1"/>
          <p:nvPr/>
        </p:nvSpPr>
        <p:spPr>
          <a:xfrm>
            <a:off x="838200" y="1382508"/>
            <a:ext cx="80567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Физическая интерпретация: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Скорость &gt; 10 ярдов/сек ≈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33 км/ч</a:t>
            </a:r>
            <a:r>
              <a:rPr lang="ru-RU" dirty="0">
                <a:effectLst/>
                <a:latin typeface="Helvetica Neue" panose="02000503000000020004" pitchFamily="2" charset="0"/>
              </a:rPr>
              <a:t> — это спринт мирового класса</a:t>
            </a:r>
          </a:p>
          <a:p>
            <a:pPr>
              <a:buNone/>
            </a:pPr>
            <a:r>
              <a:rPr lang="ru-RU" dirty="0" err="1">
                <a:effectLst/>
                <a:latin typeface="Helvetica Neue" panose="02000503000000020004" pitchFamily="2" charset="0"/>
              </a:rPr>
              <a:t>Усэйн</a:t>
            </a:r>
            <a:r>
              <a:rPr lang="ru-RU" dirty="0">
                <a:effectLst/>
                <a:latin typeface="Helvetica Neue" panose="02000503000000020004" pitchFamily="2" charset="0"/>
              </a:rPr>
              <a:t> Болт: ~12.4 м/с ≈ 13.5 ярдов/сек (абсолютный максимум)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NFL </a:t>
            </a:r>
            <a:r>
              <a:rPr lang="ru-RU" dirty="0">
                <a:effectLst/>
                <a:latin typeface="Helvetica Neue" panose="02000503000000020004" pitchFamily="2" charset="0"/>
              </a:rPr>
              <a:t>игроки: реалистичный максимум ~10-11 ярдов/сек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Выбросы по признакам: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Вывод: Выбросов мало (&lt;0.1%), но они информативны</a:t>
            </a:r>
            <a:endParaRPr lang="ru-RU" dirty="0">
              <a:effectLst/>
              <a:latin typeface="Helvetica Neue" panose="02000503000000020004" pitchFamily="2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0A0FE2D-0803-2FAB-18E5-4323A2D60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86922"/>
            <a:ext cx="6909420" cy="277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23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40FC-623D-C9F7-A1C5-8EFBB2D0B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Решение по выбросам — НЕ удалять!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9291B-BA50-5BFA-652C-7521619927DD}"/>
              </a:ext>
            </a:extLst>
          </p:cNvPr>
          <p:cNvSpPr txBox="1"/>
          <p:nvPr/>
        </p:nvSpPr>
        <p:spPr>
          <a:xfrm>
            <a:off x="838200" y="1289383"/>
            <a:ext cx="961792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Почему мы решили СОХРАНИТЬ выбросы: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Доменная специфика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NFL: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Рывки и резкие ускорения — часть игры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Столкновения меняют траектории непредсказуемо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Экстремальные ситуации = критические моменты игры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Информационная ценность: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Модель должна уметь предсказывать и редкие случаи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Удаление может убрать важные паттерны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На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ше решение: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Создаём флаги вместо удаления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is_outlier_z_s</a:t>
            </a:r>
            <a:r>
              <a:rPr lang="en-US" dirty="0">
                <a:effectLst/>
                <a:latin typeface=".AppleSystemUIFontMonospaced"/>
              </a:rPr>
              <a:t>'] = (</a:t>
            </a:r>
            <a:r>
              <a:rPr lang="en-US" dirty="0" err="1">
                <a:effectLst/>
                <a:latin typeface=".AppleSystemUIFontMonospaced"/>
              </a:rPr>
              <a:t>np.abs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z_s</a:t>
            </a:r>
            <a:r>
              <a:rPr lang="en-US" dirty="0">
                <a:effectLst/>
                <a:latin typeface=".AppleSystemUIFontMonospaced"/>
              </a:rPr>
              <a:t>']) &gt; 3).</a:t>
            </a:r>
            <a:r>
              <a:rPr lang="en-US" dirty="0" err="1">
                <a:effectLst/>
                <a:latin typeface=".AppleSystemUIFontMonospaced"/>
              </a:rPr>
              <a:t>astype</a:t>
            </a:r>
            <a:r>
              <a:rPr lang="en-US" dirty="0">
                <a:effectLst/>
                <a:latin typeface=".AppleSystemUIFontMonospaced"/>
              </a:rPr>
              <a:t>(int)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is_outlier_iqr_s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outliers_iqr.astype</a:t>
            </a:r>
            <a:r>
              <a:rPr lang="en-US" dirty="0">
                <a:effectLst/>
                <a:latin typeface=".AppleSystemUIFontMonospaced"/>
              </a:rPr>
              <a:t>(int)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is_outlier_s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is_outlier_z_s</a:t>
            </a:r>
            <a:r>
              <a:rPr lang="en-US" dirty="0">
                <a:effectLst/>
                <a:latin typeface=".AppleSystemUIFontMonospaced"/>
              </a:rPr>
              <a:t>'] |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is_outlier_iqr_s</a:t>
            </a:r>
            <a:r>
              <a:rPr lang="en-US" dirty="0">
                <a:effectLst/>
                <a:latin typeface=".AppleSystemUIFontMonospaced"/>
              </a:rPr>
              <a:t>']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Результат:</a:t>
            </a:r>
            <a:r>
              <a:rPr lang="ru-RU" dirty="0">
                <a:effectLst/>
                <a:latin typeface="Helvetica Neue" panose="02000503000000020004" pitchFamily="2" charset="0"/>
              </a:rPr>
              <a:t> Флаги для 6 признаков (</a:t>
            </a:r>
            <a:r>
              <a:rPr lang="en-US" dirty="0">
                <a:effectLst/>
                <a:latin typeface="Helvetica Neue" panose="02000503000000020004" pitchFamily="2" charset="0"/>
              </a:rPr>
              <a:t>s, a, x, y, o,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dir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36411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7B6D-4427-10FF-4489-0B56C4CB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16904"/>
          </a:xfrm>
        </p:spPr>
        <p:txBody>
          <a:bodyPr/>
          <a:lstStyle/>
          <a:p>
            <a:r>
              <a:rPr lang="en-US" b="1" dirty="0"/>
              <a:t>ML-</a:t>
            </a:r>
            <a:r>
              <a:rPr lang="ru-RU" b="1" dirty="0"/>
              <a:t>метод — </a:t>
            </a:r>
            <a:r>
              <a:rPr lang="en-US" b="1" dirty="0"/>
              <a:t>Isolation Forest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A00D54-318B-E7A2-2A7E-3C518A4321CB}"/>
              </a:ext>
            </a:extLst>
          </p:cNvPr>
          <p:cNvSpPr txBox="1"/>
          <p:nvPr/>
        </p:nvSpPr>
        <p:spPr>
          <a:xfrm>
            <a:off x="838200" y="1367334"/>
            <a:ext cx="805675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Настройка алгоритма: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iso</a:t>
            </a:r>
            <a:r>
              <a:rPr lang="en-US" dirty="0">
                <a:effectLst/>
                <a:latin typeface=".AppleSystemUIFontMonospaced"/>
              </a:rPr>
              <a:t> = </a:t>
            </a:r>
            <a:r>
              <a:rPr lang="en-US" dirty="0" err="1">
                <a:effectLst/>
                <a:latin typeface=".AppleSystemUIFontMonospaced"/>
              </a:rPr>
              <a:t>IsolationForest</a:t>
            </a:r>
            <a:r>
              <a:rPr lang="en-US" dirty="0">
                <a:effectLst/>
                <a:latin typeface=".AppleSystemUIFontMonospaced"/>
              </a:rPr>
              <a:t>(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</a:t>
            </a:r>
            <a:r>
              <a:rPr lang="en-US" dirty="0" err="1">
                <a:effectLst/>
                <a:latin typeface=".AppleSystemUIFontMonospaced"/>
              </a:rPr>
              <a:t>n_estimators</a:t>
            </a:r>
            <a:r>
              <a:rPr lang="en-US" dirty="0">
                <a:effectLst/>
                <a:latin typeface=".AppleSystemUIFontMonospaced"/>
              </a:rPr>
              <a:t>=200,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contamination=0.005,  # </a:t>
            </a:r>
            <a:r>
              <a:rPr lang="ru-RU" dirty="0">
                <a:effectLst/>
                <a:latin typeface=".AppleSystemUIFontMonospaced"/>
              </a:rPr>
              <a:t>ожидаем 0.5% аномалий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    </a:t>
            </a:r>
            <a:r>
              <a:rPr lang="en-US" dirty="0" err="1">
                <a:effectLst/>
                <a:latin typeface=".AppleSystemUIFontMonospaced"/>
              </a:rPr>
              <a:t>random_state</a:t>
            </a:r>
            <a:r>
              <a:rPr lang="en-US" dirty="0">
                <a:effectLst/>
                <a:latin typeface=".AppleSystemUIFontMonospaced"/>
              </a:rPr>
              <a:t>=42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df_sample</a:t>
            </a:r>
            <a:r>
              <a:rPr lang="en-US" dirty="0">
                <a:effectLst/>
                <a:latin typeface=".AppleSystemUIFontMonospaced"/>
              </a:rPr>
              <a:t>["</a:t>
            </a:r>
            <a:r>
              <a:rPr lang="en-US" dirty="0" err="1">
                <a:effectLst/>
                <a:latin typeface=".AppleSystemUIFontMonospaced"/>
              </a:rPr>
              <a:t>iso_outlier</a:t>
            </a:r>
            <a:r>
              <a:rPr lang="en-US" dirty="0">
                <a:effectLst/>
                <a:latin typeface=".AppleSystemUIFontMonospaced"/>
              </a:rPr>
              <a:t>"] = (</a:t>
            </a:r>
            <a:r>
              <a:rPr lang="en-US" dirty="0" err="1">
                <a:effectLst/>
                <a:latin typeface=".AppleSystemUIFontMonospaced"/>
              </a:rPr>
              <a:t>iso.fit_predict</a:t>
            </a:r>
            <a:r>
              <a:rPr lang="en-US" dirty="0">
                <a:effectLst/>
                <a:latin typeface=".AppleSystemUIFontMonospaced"/>
              </a:rPr>
              <a:t>(X) == -1).</a:t>
            </a:r>
            <a:r>
              <a:rPr lang="en-US" dirty="0" err="1">
                <a:effectLst/>
                <a:latin typeface=".AppleSystemUIFontMonospaced"/>
              </a:rPr>
              <a:t>astype</a:t>
            </a:r>
            <a:r>
              <a:rPr lang="en-US" dirty="0">
                <a:effectLst/>
                <a:latin typeface=".AppleSystemUIFontMonospaced"/>
              </a:rPr>
              <a:t>(int)</a:t>
            </a:r>
            <a:endParaRPr lang="ru-RU" dirty="0">
              <a:effectLst/>
              <a:latin typeface=".AppleSystemUIFontMonospaced"/>
            </a:endParaRPr>
          </a:p>
          <a:p>
            <a:pPr>
              <a:buNone/>
            </a:pP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Признаки для детекции: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s, a,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x_input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y_input</a:t>
            </a:r>
            <a:r>
              <a:rPr lang="en-US" dirty="0">
                <a:effectLst/>
                <a:latin typeface="Helvetica Neue" panose="02000503000000020004" pitchFamily="2" charset="0"/>
              </a:rPr>
              <a:t>, o,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dir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Результаты визуализации: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🟢 </a:t>
            </a:r>
            <a:r>
              <a:rPr lang="ru-RU" dirty="0">
                <a:effectLst/>
                <a:latin typeface="Helvetica Neue" panose="02000503000000020004" pitchFamily="2" charset="0"/>
              </a:rPr>
              <a:t>Зелёные точки — нормальные наблюдения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🔴 </a:t>
            </a:r>
            <a:r>
              <a:rPr lang="ru-RU" dirty="0">
                <a:effectLst/>
                <a:latin typeface="Helvetica Neue" panose="02000503000000020004" pitchFamily="2" charset="0"/>
              </a:rPr>
              <a:t>Красные точки — аномалии (края поля)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Isolation Forest </a:t>
            </a:r>
            <a:r>
              <a:rPr lang="ru-RU" dirty="0">
                <a:effectLst/>
                <a:latin typeface="Helvetica Neue" panose="02000503000000020004" pitchFamily="2" charset="0"/>
              </a:rPr>
              <a:t>выявляет игроков на краях поля — это редкие, но важные ситуации!</a:t>
            </a:r>
          </a:p>
        </p:txBody>
      </p:sp>
    </p:spTree>
    <p:extLst>
      <p:ext uri="{BB962C8B-B14F-4D97-AF65-F5344CB8AC3E}">
        <p14:creationId xmlns:p14="http://schemas.microsoft.com/office/powerpoint/2010/main" val="3213659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red dots&#10;&#10;AI-generated content may be incorrect.">
            <a:extLst>
              <a:ext uri="{FF2B5EF4-FFF2-40B4-BE49-F238E27FC236}">
                <a16:creationId xmlns:a16="http://schemas.microsoft.com/office/drawing/2014/main" id="{A902B504-1FB2-2F54-EF9F-D0C2B2587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645" y="1182029"/>
            <a:ext cx="7772400" cy="505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7745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024DB-6F0E-5CB9-3C40-AF7004F84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Интерпретация аномалий </a:t>
            </a:r>
            <a:r>
              <a:rPr lang="en-US" b="1" dirty="0"/>
              <a:t>Isolation Forest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F5961A-9291-800D-7E24-381A87514200}"/>
              </a:ext>
            </a:extLst>
          </p:cNvPr>
          <p:cNvSpPr txBox="1"/>
          <p:nvPr/>
        </p:nvSpPr>
        <p:spPr>
          <a:xfrm>
            <a:off x="838200" y="1859339"/>
            <a:ext cx="78560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нашёл алгоритм: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Аномалии концентрируются на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краях поля</a:t>
            </a:r>
            <a:r>
              <a:rPr lang="ru-RU" dirty="0">
                <a:effectLst/>
                <a:latin typeface="Helvetica Neue" panose="02000503000000020004" pitchFamily="2" charset="0"/>
              </a:rPr>
              <a:t> (</a:t>
            </a:r>
            <a:r>
              <a:rPr lang="en-US" dirty="0">
                <a:effectLst/>
                <a:latin typeface="Helvetica Neue" panose="02000503000000020004" pitchFamily="2" charset="0"/>
              </a:rPr>
              <a:t>y &lt; 5 </a:t>
            </a:r>
            <a:r>
              <a:rPr lang="ru-RU" dirty="0">
                <a:effectLst/>
                <a:latin typeface="Helvetica Neue" panose="02000503000000020004" pitchFamily="2" charset="0"/>
              </a:rPr>
              <a:t>или </a:t>
            </a:r>
            <a:r>
              <a:rPr lang="en-US" dirty="0">
                <a:effectLst/>
                <a:latin typeface="Helvetica Neue" panose="02000503000000020004" pitchFamily="2" charset="0"/>
              </a:rPr>
              <a:t>y &gt; 48)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Также в </a:t>
            </a:r>
            <a:r>
              <a:rPr lang="ru-RU" b="1" dirty="0" err="1">
                <a:effectLst/>
                <a:latin typeface="Helvetica Neue" panose="02000503000000020004" pitchFamily="2" charset="0"/>
              </a:rPr>
              <a:t>эндзонах</a:t>
            </a:r>
            <a:r>
              <a:rPr lang="ru-RU" dirty="0">
                <a:effectLst/>
                <a:latin typeface="Helvetica Neue" panose="02000503000000020004" pitchFamily="2" charset="0"/>
              </a:rPr>
              <a:t> (</a:t>
            </a:r>
            <a:r>
              <a:rPr lang="en-US" dirty="0">
                <a:effectLst/>
                <a:latin typeface="Helvetica Neue" panose="02000503000000020004" pitchFamily="2" charset="0"/>
              </a:rPr>
              <a:t>x &lt; 10 </a:t>
            </a:r>
            <a:r>
              <a:rPr lang="ru-RU" dirty="0">
                <a:effectLst/>
                <a:latin typeface="Helvetica Neue" panose="02000503000000020004" pitchFamily="2" charset="0"/>
              </a:rPr>
              <a:t>или </a:t>
            </a:r>
            <a:r>
              <a:rPr lang="en-US" dirty="0">
                <a:effectLst/>
                <a:latin typeface="Helvetica Neue" panose="02000503000000020004" pitchFamily="2" charset="0"/>
              </a:rPr>
              <a:t>x &gt; 110)</a:t>
            </a: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Почему это важно для модели: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Игрок у боковой линии → ограничен в движении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Игрок в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эндзоне</a:t>
            </a:r>
            <a:r>
              <a:rPr lang="ru-RU" dirty="0">
                <a:effectLst/>
                <a:latin typeface="Helvetica Neue" panose="02000503000000020004" pitchFamily="2" charset="0"/>
              </a:rPr>
              <a:t> → другая тактика защиты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Эти ситуации редки в </a:t>
            </a:r>
            <a:r>
              <a:rPr lang="en-US" dirty="0">
                <a:effectLst/>
                <a:latin typeface="Helvetica Neue" panose="02000503000000020004" pitchFamily="2" charset="0"/>
              </a:rPr>
              <a:t>train, </a:t>
            </a:r>
            <a:r>
              <a:rPr lang="ru-RU" dirty="0">
                <a:effectLst/>
                <a:latin typeface="Helvetica Neue" panose="02000503000000020004" pitchFamily="2" charset="0"/>
              </a:rPr>
              <a:t>но критичны для предсказания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Решение:</a:t>
            </a:r>
            <a:r>
              <a:rPr lang="ru-RU" dirty="0">
                <a:effectLst/>
                <a:latin typeface="Helvetica Neue" panose="02000503000000020004" pitchFamily="2" charset="0"/>
              </a:rPr>
              <a:t> Создаём признак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iso_outlier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как дополнительную фичу</a:t>
            </a:r>
          </a:p>
        </p:txBody>
      </p:sp>
    </p:spTree>
    <p:extLst>
      <p:ext uri="{BB962C8B-B14F-4D97-AF65-F5344CB8AC3E}">
        <p14:creationId xmlns:p14="http://schemas.microsoft.com/office/powerpoint/2010/main" val="895837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B2937-74CC-D4AD-167C-17B62AFF2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Генерация признаков на основе аномалий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A3020-2071-943A-2490-11CE26233C94}"/>
              </a:ext>
            </a:extLst>
          </p:cNvPr>
          <p:cNvSpPr txBox="1"/>
          <p:nvPr/>
        </p:nvSpPr>
        <p:spPr>
          <a:xfrm>
            <a:off x="641195" y="2136338"/>
            <a:ext cx="609971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Созданные флаги выбросов: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Для каждого признака создаём 3 флага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for col in ['s', 'a', '</a:t>
            </a:r>
            <a:r>
              <a:rPr lang="en-US" dirty="0" err="1">
                <a:effectLst/>
                <a:latin typeface=".AppleSystemUIFontMonospaced"/>
              </a:rPr>
              <a:t>x_input</a:t>
            </a:r>
            <a:r>
              <a:rPr lang="en-US" dirty="0">
                <a:effectLst/>
                <a:latin typeface=".AppleSystemUIFontMonospaced"/>
              </a:rPr>
              <a:t>', '</a:t>
            </a:r>
            <a:r>
              <a:rPr lang="en-US" dirty="0" err="1">
                <a:effectLst/>
                <a:latin typeface=".AppleSystemUIFontMonospaced"/>
              </a:rPr>
              <a:t>y_input</a:t>
            </a:r>
            <a:r>
              <a:rPr lang="en-US" dirty="0">
                <a:effectLst/>
                <a:latin typeface=".AppleSystemUIFontMonospaced"/>
              </a:rPr>
              <a:t>', 'o', '</a:t>
            </a:r>
            <a:r>
              <a:rPr lang="en-US" dirty="0" err="1">
                <a:effectLst/>
                <a:latin typeface=".AppleSystemUIFontMonospaced"/>
              </a:rPr>
              <a:t>dir</a:t>
            </a:r>
            <a:r>
              <a:rPr lang="en-US" dirty="0">
                <a:effectLst/>
                <a:latin typeface=".AppleSystemUIFontMonospaced"/>
              </a:rPr>
              <a:t>']: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</a:t>
            </a:r>
            <a:r>
              <a:rPr lang="en-US" dirty="0" err="1">
                <a:effectLst/>
                <a:latin typeface=".AppleSystemUIFontMonospaced"/>
              </a:rPr>
              <a:t>f'is_outlier_z</a:t>
            </a:r>
            <a:r>
              <a:rPr lang="en-US" dirty="0">
                <a:effectLst/>
                <a:latin typeface=".AppleSystemUIFontMonospaced"/>
              </a:rPr>
              <a:t>_{col}'] = ...    # Z-score &gt; 3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</a:t>
            </a:r>
            <a:r>
              <a:rPr lang="en-US" dirty="0" err="1">
                <a:effectLst/>
                <a:latin typeface=".AppleSystemUIFontMonospaced"/>
              </a:rPr>
              <a:t>f'is_outlier_iqr</a:t>
            </a:r>
            <a:r>
              <a:rPr lang="en-US" dirty="0">
                <a:effectLst/>
                <a:latin typeface=".AppleSystemUIFontMonospaced"/>
              </a:rPr>
              <a:t>_{col}'] = ...  # IQR </a:t>
            </a:r>
            <a:r>
              <a:rPr lang="ru-RU" dirty="0">
                <a:effectLst/>
                <a:latin typeface=".AppleSystemUIFontMonospaced"/>
              </a:rPr>
              <a:t>метод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   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</a:t>
            </a:r>
            <a:r>
              <a:rPr lang="en-US" dirty="0" err="1">
                <a:effectLst/>
                <a:latin typeface=".AppleSystemUIFontMonospaced"/>
              </a:rPr>
              <a:t>f'is_outlier</a:t>
            </a:r>
            <a:r>
              <a:rPr lang="en-US" dirty="0">
                <a:effectLst/>
                <a:latin typeface=".AppleSystemUIFontMonospaced"/>
              </a:rPr>
              <a:t>_{col}'] = ...      # </a:t>
            </a:r>
            <a:r>
              <a:rPr lang="ru-RU" dirty="0">
                <a:effectLst/>
                <a:latin typeface=".AppleSystemUIFontMonospaced"/>
              </a:rPr>
              <a:t>Объединённый флаг</a:t>
            </a:r>
          </a:p>
          <a:p>
            <a:pPr>
              <a:buNone/>
            </a:pPr>
            <a:endParaRPr lang="ru-RU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Дополнительные признаки: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Итого:</a:t>
            </a:r>
            <a:r>
              <a:rPr lang="ru-RU" dirty="0">
                <a:effectLst/>
                <a:latin typeface="Helvetica Neue" panose="02000503000000020004" pitchFamily="2" charset="0"/>
              </a:rPr>
              <a:t> +18 новых признаков на основе аномалий</a:t>
            </a:r>
          </a:p>
        </p:txBody>
      </p:sp>
    </p:spTree>
    <p:extLst>
      <p:ext uri="{BB962C8B-B14F-4D97-AF65-F5344CB8AC3E}">
        <p14:creationId xmlns:p14="http://schemas.microsoft.com/office/powerpoint/2010/main" val="3046280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97DD6-1C07-DAC2-B7E2-0201BDADE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KNN-</a:t>
            </a:r>
            <a:r>
              <a:rPr lang="ru-RU" b="1" dirty="0"/>
              <a:t>признаки (соседи в пространстве)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004F82-B9A3-F69E-0C6A-833F82D74FD2}"/>
              </a:ext>
            </a:extLst>
          </p:cNvPr>
          <p:cNvSpPr txBox="1"/>
          <p:nvPr/>
        </p:nvSpPr>
        <p:spPr>
          <a:xfrm>
            <a:off x="838200" y="1690688"/>
            <a:ext cx="870352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Признак 1: Плотность окружения (</a:t>
            </a:r>
            <a:r>
              <a:rPr lang="en-US" b="1" dirty="0" err="1">
                <a:effectLst/>
                <a:latin typeface="Helvetica Neue" panose="02000503000000020004" pitchFamily="2" charset="0"/>
              </a:rPr>
              <a:t>knn_density</a:t>
            </a:r>
            <a:r>
              <a:rPr lang="en-US" b="1" dirty="0">
                <a:effectLst/>
                <a:latin typeface="Helvetica Neue" panose="02000503000000020004" pitchFamily="2" charset="0"/>
              </a:rPr>
              <a:t>)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knn</a:t>
            </a:r>
            <a:r>
              <a:rPr lang="en-US" dirty="0">
                <a:effectLst/>
                <a:latin typeface=".AppleSystemUIFontMonospaced"/>
              </a:rPr>
              <a:t> = </a:t>
            </a:r>
            <a:r>
              <a:rPr lang="en-US" dirty="0" err="1">
                <a:effectLst/>
                <a:latin typeface=".AppleSystemUIFontMonospaced"/>
              </a:rPr>
              <a:t>NearestNeighbors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n_neighbors</a:t>
            </a:r>
            <a:r>
              <a:rPr lang="en-US" dirty="0">
                <a:effectLst/>
                <a:latin typeface=".AppleSystemUIFontMonospaced"/>
              </a:rPr>
              <a:t>=5)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knn.fit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[['</a:t>
            </a:r>
            <a:r>
              <a:rPr lang="en-US" dirty="0" err="1">
                <a:effectLst/>
                <a:latin typeface=".AppleSystemUIFontMonospaced"/>
              </a:rPr>
              <a:t>x_input</a:t>
            </a:r>
            <a:r>
              <a:rPr lang="en-US" dirty="0">
                <a:effectLst/>
                <a:latin typeface=".AppleSystemUIFontMonospaced"/>
              </a:rPr>
              <a:t>', '</a:t>
            </a:r>
            <a:r>
              <a:rPr lang="en-US" dirty="0" err="1">
                <a:effectLst/>
                <a:latin typeface=".AppleSystemUIFontMonospaced"/>
              </a:rPr>
              <a:t>y_input</a:t>
            </a:r>
            <a:r>
              <a:rPr lang="en-US" dirty="0">
                <a:effectLst/>
                <a:latin typeface=".AppleSystemUIFontMonospaced"/>
              </a:rPr>
              <a:t>']])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distances, _ = </a:t>
            </a:r>
            <a:r>
              <a:rPr lang="en-US" dirty="0" err="1">
                <a:effectLst/>
                <a:latin typeface=".AppleSystemUIFontMonospaced"/>
              </a:rPr>
              <a:t>knn.kneighbors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[['</a:t>
            </a:r>
            <a:r>
              <a:rPr lang="en-US" dirty="0" err="1">
                <a:effectLst/>
                <a:latin typeface=".AppleSystemUIFontMonospaced"/>
              </a:rPr>
              <a:t>x_input</a:t>
            </a:r>
            <a:r>
              <a:rPr lang="en-US" dirty="0">
                <a:effectLst/>
                <a:latin typeface=".AppleSystemUIFontMonospaced"/>
              </a:rPr>
              <a:t>', '</a:t>
            </a:r>
            <a:r>
              <a:rPr lang="en-US" dirty="0" err="1">
                <a:effectLst/>
                <a:latin typeface=".AppleSystemUIFontMonospaced"/>
              </a:rPr>
              <a:t>y_input</a:t>
            </a:r>
            <a:r>
              <a:rPr lang="en-US" dirty="0">
                <a:effectLst/>
                <a:latin typeface=".AppleSystemUIFontMonospaced"/>
              </a:rPr>
              <a:t>']])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knn_density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distances.mean</a:t>
            </a:r>
            <a:r>
              <a:rPr lang="en-US" dirty="0">
                <a:effectLst/>
                <a:latin typeface=".AppleSystemUIFontMonospaced"/>
              </a:rPr>
              <a:t>(axis=1)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Логика:</a:t>
            </a:r>
            <a:r>
              <a:rPr lang="ru-RU" dirty="0">
                <a:effectLst/>
                <a:latin typeface="Helvetica Neue" panose="02000503000000020004" pitchFamily="2" charset="0"/>
              </a:rPr>
              <a:t> Среднее расстояние до 5 ближайших игроков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Высокая плотность → скученность, сложнее двигаться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Низкая плотность → свобода манёвра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Признак 2: Расстояние до ближайшего защитника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knn_def</a:t>
            </a:r>
            <a:r>
              <a:rPr lang="en-US" dirty="0">
                <a:effectLst/>
                <a:latin typeface=".AppleSystemUIFontMonospaced"/>
              </a:rPr>
              <a:t> = </a:t>
            </a:r>
            <a:r>
              <a:rPr lang="en-US" dirty="0" err="1">
                <a:effectLst/>
                <a:latin typeface=".AppleSystemUIFontMonospaced"/>
              </a:rPr>
              <a:t>NearestNeighbors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n_neighbors</a:t>
            </a:r>
            <a:r>
              <a:rPr lang="en-US" dirty="0">
                <a:effectLst/>
                <a:latin typeface=".AppleSystemUIFontMonospaced"/>
              </a:rPr>
              <a:t>=1)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knn_def.fit</a:t>
            </a:r>
            <a:r>
              <a:rPr lang="en-US" dirty="0">
                <a:effectLst/>
                <a:latin typeface=".AppleSystemUIFontMonospaced"/>
              </a:rPr>
              <a:t>(defense[['</a:t>
            </a:r>
            <a:r>
              <a:rPr lang="en-US" dirty="0" err="1">
                <a:effectLst/>
                <a:latin typeface=".AppleSystemUIFontMonospaced"/>
              </a:rPr>
              <a:t>x_input</a:t>
            </a:r>
            <a:r>
              <a:rPr lang="en-US" dirty="0">
                <a:effectLst/>
                <a:latin typeface=".AppleSystemUIFontMonospaced"/>
              </a:rPr>
              <a:t>', '</a:t>
            </a:r>
            <a:r>
              <a:rPr lang="en-US" dirty="0" err="1">
                <a:effectLst/>
                <a:latin typeface=".AppleSystemUIFontMonospaced"/>
              </a:rPr>
              <a:t>y_input</a:t>
            </a:r>
            <a:r>
              <a:rPr lang="en-US" dirty="0">
                <a:effectLst/>
                <a:latin typeface=".AppleSystemUIFontMonospaced"/>
              </a:rPr>
              <a:t>']])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distances, _ = </a:t>
            </a:r>
            <a:r>
              <a:rPr lang="en-US" dirty="0" err="1">
                <a:effectLst/>
                <a:latin typeface=".AppleSystemUIFontMonospaced"/>
              </a:rPr>
              <a:t>knn_def.kneighbors</a:t>
            </a:r>
            <a:r>
              <a:rPr lang="en-US" dirty="0">
                <a:effectLst/>
                <a:latin typeface=".AppleSystemUIFontMonospaced"/>
              </a:rPr>
              <a:t>(offense[['</a:t>
            </a:r>
            <a:r>
              <a:rPr lang="en-US" dirty="0" err="1">
                <a:effectLst/>
                <a:latin typeface=".AppleSystemUIFontMonospaced"/>
              </a:rPr>
              <a:t>x_input</a:t>
            </a:r>
            <a:r>
              <a:rPr lang="en-US" dirty="0">
                <a:effectLst/>
                <a:latin typeface=".AppleSystemUIFontMonospaced"/>
              </a:rPr>
              <a:t>', '</a:t>
            </a:r>
            <a:r>
              <a:rPr lang="en-US" dirty="0" err="1">
                <a:effectLst/>
                <a:latin typeface=".AppleSystemUIFontMonospaced"/>
              </a:rPr>
              <a:t>y_input</a:t>
            </a:r>
            <a:r>
              <a:rPr lang="en-US" dirty="0">
                <a:effectLst/>
                <a:latin typeface=".AppleSystemUIFontMonospaced"/>
              </a:rPr>
              <a:t>']])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offense['</a:t>
            </a:r>
            <a:r>
              <a:rPr lang="en-US" dirty="0" err="1">
                <a:effectLst/>
                <a:latin typeface=".AppleSystemUIFontMonospaced"/>
              </a:rPr>
              <a:t>closest_defender_dist</a:t>
            </a:r>
            <a:r>
              <a:rPr lang="en-US" dirty="0">
                <a:effectLst/>
                <a:latin typeface=".AppleSystemUIFontMonospaced"/>
              </a:rPr>
              <a:t>'] = distances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Логика:</a:t>
            </a:r>
            <a:r>
              <a:rPr lang="ru-RU" dirty="0">
                <a:effectLst/>
                <a:latin typeface="Helvetica Neue" panose="02000503000000020004" pitchFamily="2" charset="0"/>
              </a:rPr>
              <a:t> Чем ближе защитник — тем сложнее принять мяч</a:t>
            </a:r>
          </a:p>
        </p:txBody>
      </p:sp>
    </p:spTree>
    <p:extLst>
      <p:ext uri="{BB962C8B-B14F-4D97-AF65-F5344CB8AC3E}">
        <p14:creationId xmlns:p14="http://schemas.microsoft.com/office/powerpoint/2010/main" val="1990204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9FA1-D621-CB45-FFBD-EAA1FB74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Временные признаки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8D3FB3-989C-F42C-4B92-F08E88CBF12A}"/>
              </a:ext>
            </a:extLst>
          </p:cNvPr>
          <p:cNvSpPr txBox="1"/>
          <p:nvPr/>
        </p:nvSpPr>
        <p:spPr>
          <a:xfrm>
            <a:off x="838200" y="1333219"/>
            <a:ext cx="60997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Нормализация фрейма: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frame_norm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frame_id</a:t>
            </a:r>
            <a:r>
              <a:rPr lang="en-US" dirty="0">
                <a:effectLst/>
                <a:latin typeface=".AppleSystemUIFontMonospaced"/>
              </a:rPr>
              <a:t>'] /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num_frames_output</a:t>
            </a:r>
            <a:r>
              <a:rPr lang="en-US" dirty="0">
                <a:effectLst/>
                <a:latin typeface=".AppleSystemUIFontMonospaced"/>
              </a:rPr>
              <a:t>'].clip(lower=1)</a:t>
            </a:r>
            <a:endParaRPr lang="ru-RU" dirty="0">
              <a:effectLst/>
              <a:latin typeface=".AppleSystemUIFontMonospaced"/>
            </a:endParaRPr>
          </a:p>
          <a:p>
            <a:pPr>
              <a:buNone/>
            </a:pP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Логика:</a:t>
            </a:r>
            <a:r>
              <a:rPr lang="ru-RU" dirty="0">
                <a:effectLst/>
                <a:latin typeface="Helvetica Neue" panose="02000503000000020004" pitchFamily="2" charset="0"/>
              </a:rPr>
              <a:t> Относительная позиция во времени (0 = начало, 1 = конец)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Циклическое кодирование (</a:t>
            </a:r>
            <a:r>
              <a:rPr lang="en-US" b="1" dirty="0">
                <a:effectLst/>
                <a:latin typeface="Helvetica Neue" panose="02000503000000020004" pitchFamily="2" charset="0"/>
              </a:rPr>
              <a:t>sin/cos):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frame_sin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np.sin</a:t>
            </a:r>
            <a:r>
              <a:rPr lang="en-US" dirty="0">
                <a:effectLst/>
                <a:latin typeface=".AppleSystemUIFontMonospaced"/>
              </a:rPr>
              <a:t>(2 * </a:t>
            </a:r>
            <a:r>
              <a:rPr lang="en-US" dirty="0" err="1">
                <a:effectLst/>
                <a:latin typeface=".AppleSystemUIFontMonospaced"/>
              </a:rPr>
              <a:t>np.pi</a:t>
            </a:r>
            <a:r>
              <a:rPr lang="en-US" dirty="0">
                <a:effectLst/>
                <a:latin typeface=".AppleSystemUIFontMonospaced"/>
              </a:rPr>
              <a:t> *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frame_norm</a:t>
            </a:r>
            <a:r>
              <a:rPr lang="en-US" dirty="0">
                <a:effectLst/>
                <a:latin typeface=".AppleSystemUIFontMonospaced"/>
              </a:rPr>
              <a:t>'])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frame_cos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np.cos</a:t>
            </a:r>
            <a:r>
              <a:rPr lang="en-US" dirty="0">
                <a:effectLst/>
                <a:latin typeface=".AppleSystemUIFontMonospaced"/>
              </a:rPr>
              <a:t>(2 * </a:t>
            </a:r>
            <a:r>
              <a:rPr lang="en-US" dirty="0" err="1">
                <a:effectLst/>
                <a:latin typeface=".AppleSystemUIFontMonospaced"/>
              </a:rPr>
              <a:t>np.pi</a:t>
            </a:r>
            <a:r>
              <a:rPr lang="en-US" dirty="0">
                <a:effectLst/>
                <a:latin typeface=".AppleSystemUIFontMonospaced"/>
              </a:rPr>
              <a:t> * </a:t>
            </a: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frame_norm</a:t>
            </a:r>
            <a:r>
              <a:rPr lang="en-US" dirty="0">
                <a:effectLst/>
                <a:latin typeface=".AppleSystemUIFontMonospaced"/>
              </a:rPr>
              <a:t>’])</a:t>
            </a:r>
            <a:endParaRPr lang="ru-RU" dirty="0">
              <a:effectLst/>
              <a:latin typeface=".AppleSystemUIFontMonospaced"/>
            </a:endParaRPr>
          </a:p>
          <a:p>
            <a:pPr>
              <a:buNone/>
            </a:pP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Почему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sin/cos: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Линейное кодирование: 0.99 и 0.01 далеко друг от друга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Циклическое: они близки (почти полный цикл)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Модель лучше понимает периодичность движений</a:t>
            </a:r>
          </a:p>
        </p:txBody>
      </p:sp>
    </p:spTree>
    <p:extLst>
      <p:ext uri="{BB962C8B-B14F-4D97-AF65-F5344CB8AC3E}">
        <p14:creationId xmlns:p14="http://schemas.microsoft.com/office/powerpoint/2010/main" val="1289671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7175-8950-69E7-B978-977346CF6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Матрица корреляций расширенного датасета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C67D6-9CB4-329D-B13A-B8AEC13D32BE}"/>
              </a:ext>
            </a:extLst>
          </p:cNvPr>
          <p:cNvSpPr txBox="1"/>
          <p:nvPr/>
        </p:nvSpPr>
        <p:spPr>
          <a:xfrm>
            <a:off x="838200" y="1891409"/>
            <a:ext cx="830394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Сильные корреляции (&gt; 0.7):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x_input</a:t>
            </a:r>
            <a:r>
              <a:rPr lang="en-US" dirty="0">
                <a:effectLst/>
                <a:latin typeface="Helvetica Neue" panose="02000503000000020004" pitchFamily="2" charset="0"/>
              </a:rPr>
              <a:t> ↔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 (0.88)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x_input</a:t>
            </a:r>
            <a:r>
              <a:rPr lang="en-US" dirty="0">
                <a:effectLst/>
                <a:latin typeface="Helvetica Neue" panose="02000503000000020004" pitchFamily="2" charset="0"/>
              </a:rPr>
              <a:t> ↔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absolute_yardline</a:t>
            </a:r>
            <a:r>
              <a:rPr lang="en-US" dirty="0">
                <a:effectLst/>
                <a:latin typeface="Helvetica Neue" panose="02000503000000020004" pitchFamily="2" charset="0"/>
              </a:rPr>
              <a:t> (0.94)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x_output</a:t>
            </a:r>
            <a:r>
              <a:rPr lang="en-US" dirty="0">
                <a:effectLst/>
                <a:latin typeface="Helvetica Neue" panose="02000503000000020004" pitchFamily="2" charset="0"/>
              </a:rPr>
              <a:t> ↔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x_input</a:t>
            </a:r>
            <a:r>
              <a:rPr lang="en-US" dirty="0">
                <a:effectLst/>
                <a:latin typeface="Helvetica Neue" panose="02000503000000020004" pitchFamily="2" charset="0"/>
              </a:rPr>
              <a:t> (</a:t>
            </a:r>
            <a:r>
              <a:rPr lang="ru-RU" dirty="0">
                <a:effectLst/>
                <a:latin typeface="Helvetica Neue" panose="02000503000000020004" pitchFamily="2" charset="0"/>
              </a:rPr>
              <a:t>высокая)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Флаги аномалий: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Слабо коррелируют с основными признаками (хорошо!)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iso_outlier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имеет свою уникальную информацию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Но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вые признаки: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knn_density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коррелирует с позицией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frame_sin</a:t>
            </a:r>
            <a:r>
              <a:rPr lang="en-US" dirty="0">
                <a:effectLst/>
                <a:latin typeface="Helvetica Neue" panose="02000503000000020004" pitchFamily="2" charset="0"/>
              </a:rPr>
              <a:t>/cos </a:t>
            </a:r>
            <a:r>
              <a:rPr lang="ru-RU" dirty="0">
                <a:effectLst/>
                <a:latin typeface="Helvetica Neue" panose="02000503000000020004" pitchFamily="2" charset="0"/>
              </a:rPr>
              <a:t>независимы от координат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Вывод:</a:t>
            </a:r>
            <a:r>
              <a:rPr lang="ru-RU" dirty="0">
                <a:effectLst/>
                <a:latin typeface="Helvetica Neue" panose="02000503000000020004" pitchFamily="2" charset="0"/>
              </a:rPr>
              <a:t> Новые признаки добавляют информацию, не дублируя старые</a:t>
            </a:r>
          </a:p>
        </p:txBody>
      </p:sp>
    </p:spTree>
    <p:extLst>
      <p:ext uri="{BB962C8B-B14F-4D97-AF65-F5344CB8AC3E}">
        <p14:creationId xmlns:p14="http://schemas.microsoft.com/office/powerpoint/2010/main" val="777724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umber of different colored squares&#10;&#10;AI-generated content may be incorrect.">
            <a:extLst>
              <a:ext uri="{FF2B5EF4-FFF2-40B4-BE49-F238E27FC236}">
                <a16:creationId xmlns:a16="http://schemas.microsoft.com/office/drawing/2014/main" id="{F56CC2C4-3D8E-8B3C-88E6-5B781D2FE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809" y="0"/>
            <a:ext cx="74063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3236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94E08-BF60-4D17-FD29-D78142FB5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Распределения координат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B3841-CEEE-0A5D-10A4-345ACC59806F}"/>
              </a:ext>
            </a:extLst>
          </p:cNvPr>
          <p:cNvSpPr txBox="1"/>
          <p:nvPr/>
        </p:nvSpPr>
        <p:spPr>
          <a:xfrm>
            <a:off x="838200" y="1943633"/>
            <a:ext cx="831137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Координата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X (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длина поля):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Распределение близко к нормальному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Пик в центре поля (40-80 ярдов)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Мало данных в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эндзонах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Координата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Y (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ширина поля):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Бимодальное распределение!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Два пика: ~20 и ~35 ярдов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Соответствует типичным построениям (</a:t>
            </a:r>
            <a:r>
              <a:rPr lang="en-US" dirty="0">
                <a:effectLst/>
                <a:latin typeface="Helvetica Neue" panose="02000503000000020004" pitchFamily="2" charset="0"/>
              </a:rPr>
              <a:t>hash marks)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Y-</a:t>
            </a:r>
            <a:r>
              <a:rPr lang="ru-RU" dirty="0">
                <a:effectLst/>
                <a:latin typeface="Helvetica Neue" panose="02000503000000020004" pitchFamily="2" charset="0"/>
              </a:rPr>
              <a:t>координата имеет сложную структуру — модель должна это учитывать</a:t>
            </a:r>
          </a:p>
        </p:txBody>
      </p:sp>
    </p:spTree>
    <p:extLst>
      <p:ext uri="{BB962C8B-B14F-4D97-AF65-F5344CB8AC3E}">
        <p14:creationId xmlns:p14="http://schemas.microsoft.com/office/powerpoint/2010/main" val="15580983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showing the value of a number&#10;&#10;AI-generated content may be incorrect.">
            <a:extLst>
              <a:ext uri="{FF2B5EF4-FFF2-40B4-BE49-F238E27FC236}">
                <a16:creationId xmlns:a16="http://schemas.microsoft.com/office/drawing/2014/main" id="{F863F7EB-F573-D713-FF27-6421FCE85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85" y="533973"/>
            <a:ext cx="4687429" cy="3556205"/>
          </a:xfrm>
          <a:prstGeom prst="rect">
            <a:avLst/>
          </a:prstGeom>
        </p:spPr>
      </p:pic>
      <p:pic>
        <p:nvPicPr>
          <p:cNvPr id="6" name="Picture 5" descr="A graph showing a number of numbers&#10;&#10;AI-generated content may be incorrect.">
            <a:extLst>
              <a:ext uri="{FF2B5EF4-FFF2-40B4-BE49-F238E27FC236}">
                <a16:creationId xmlns:a16="http://schemas.microsoft.com/office/drawing/2014/main" id="{4A93633C-A7B0-EC18-F12B-22ED3E675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33973"/>
            <a:ext cx="5034704" cy="381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865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58A75F1-3269-E14B-5628-2678A7C41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15" y="156117"/>
            <a:ext cx="4894958" cy="3836020"/>
          </a:xfrm>
          <a:prstGeom prst="rect">
            <a:avLst/>
          </a:prstGeom>
        </p:spPr>
      </p:pic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58BE1353-6C44-D95D-34F6-8CEA419B6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120" y="401443"/>
            <a:ext cx="5332465" cy="404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71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0ABFC1-1127-D9E2-9C6C-055208A41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650" y="469900"/>
            <a:ext cx="7772400" cy="547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999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72994-390B-D94E-14BD-AD228E140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Выводы по Этапу 2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F64685-733E-0B8D-9D7D-7D8B7A872CBF}"/>
              </a:ext>
            </a:extLst>
          </p:cNvPr>
          <p:cNvSpPr txBox="1"/>
          <p:nvPr/>
        </p:nvSpPr>
        <p:spPr>
          <a:xfrm>
            <a:off x="838200" y="1414562"/>
            <a:ext cx="854652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✅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Что сделано: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Поиск аномалий: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Z-score: 546 </a:t>
            </a:r>
            <a:r>
              <a:rPr lang="ru-RU" dirty="0">
                <a:effectLst/>
                <a:latin typeface="Helvetica Neue" panose="02000503000000020004" pitchFamily="2" charset="0"/>
              </a:rPr>
              <a:t>выбросов по скорости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IQR: 166 </a:t>
            </a:r>
            <a:r>
              <a:rPr lang="ru-RU" dirty="0">
                <a:effectLst/>
                <a:latin typeface="Helvetica Neue" panose="02000503000000020004" pitchFamily="2" charset="0"/>
              </a:rPr>
              <a:t>выбросов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Isolation Forest: </a:t>
            </a:r>
            <a:r>
              <a:rPr lang="ru-RU" dirty="0">
                <a:effectLst/>
                <a:latin typeface="Helvetica Neue" panose="02000503000000020004" pitchFamily="2" charset="0"/>
              </a:rPr>
              <a:t>аномалии на краях поля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Решение:</a:t>
            </a:r>
            <a:r>
              <a:rPr lang="ru-RU" dirty="0">
                <a:effectLst/>
                <a:latin typeface="Helvetica Neue" panose="02000503000000020004" pitchFamily="2" charset="0"/>
              </a:rPr>
              <a:t> Не удалять, а помечать флагами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Сохраняем информацию о редких событиях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Модель сама решит, как использовать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Но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вые признаки: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18 флагов аномалий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2 </a:t>
            </a:r>
            <a:r>
              <a:rPr lang="en-US" dirty="0">
                <a:effectLst/>
                <a:latin typeface="Helvetica Neue" panose="02000503000000020004" pitchFamily="2" charset="0"/>
              </a:rPr>
              <a:t>KNN-</a:t>
            </a:r>
            <a:r>
              <a:rPr lang="ru-RU" dirty="0">
                <a:effectLst/>
                <a:latin typeface="Helvetica Neue" panose="02000503000000020004" pitchFamily="2" charset="0"/>
              </a:rPr>
              <a:t>признака (плотность, расстояние до защитника)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3 временных признака (</a:t>
            </a:r>
            <a:r>
              <a:rPr lang="en-US" dirty="0">
                <a:effectLst/>
                <a:latin typeface="Helvetica Neue" panose="02000503000000020004" pitchFamily="2" charset="0"/>
              </a:rPr>
              <a:t>sin/cos </a:t>
            </a:r>
            <a:r>
              <a:rPr lang="ru-RU" dirty="0">
                <a:effectLst/>
                <a:latin typeface="Helvetica Neue" panose="02000503000000020004" pitchFamily="2" charset="0"/>
              </a:rPr>
              <a:t>кодирование)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📊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Метрики пока не пересчитывали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— это будет на Этапе 3 с интерпретацией</a:t>
            </a:r>
          </a:p>
        </p:txBody>
      </p:sp>
    </p:spTree>
    <p:extLst>
      <p:ext uri="{BB962C8B-B14F-4D97-AF65-F5344CB8AC3E}">
        <p14:creationId xmlns:p14="http://schemas.microsoft.com/office/powerpoint/2010/main" val="36884437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2045D-535E-F656-0EEC-1E246B73C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Переход к Этапу 3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BC659-87BF-8871-D199-20E5F63CCE04}"/>
              </a:ext>
            </a:extLst>
          </p:cNvPr>
          <p:cNvSpPr txBox="1"/>
          <p:nvPr/>
        </p:nvSpPr>
        <p:spPr>
          <a:xfrm>
            <a:off x="838200" y="1720840"/>
            <a:ext cx="60994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дальше: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Обучить модели с новыми признаками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Провести </a:t>
            </a:r>
            <a:r>
              <a:rPr lang="en-US" dirty="0">
                <a:effectLst/>
                <a:latin typeface="Helvetica Neue" panose="02000503000000020004" pitchFamily="2" charset="0"/>
              </a:rPr>
              <a:t>SHAP/LIME </a:t>
            </a:r>
            <a:r>
              <a:rPr lang="ru-RU" dirty="0">
                <a:effectLst/>
                <a:latin typeface="Helvetica Neue" panose="02000503000000020004" pitchFamily="2" charset="0"/>
              </a:rPr>
              <a:t>интерпретацию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Сравнить важность "старых" и "новых" фичей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Оптимизировать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гиперпараметры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Гипотезы для проверки: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Флаги аномалий улучшат предсказание редких случаев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knn_density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поможет для скученных ситуаций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closest_defender_dist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важен для ресиверов</a:t>
            </a:r>
          </a:p>
        </p:txBody>
      </p:sp>
    </p:spTree>
    <p:extLst>
      <p:ext uri="{BB962C8B-B14F-4D97-AF65-F5344CB8AC3E}">
        <p14:creationId xmlns:p14="http://schemas.microsoft.com/office/powerpoint/2010/main" val="3561650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FA95-0155-78B5-BFD5-1E646458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Этап 3 — Цели и задачи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0C1018-5435-D84E-ADF0-16B2608766DA}"/>
              </a:ext>
            </a:extLst>
          </p:cNvPr>
          <p:cNvSpPr txBox="1"/>
          <p:nvPr/>
        </p:nvSpPr>
        <p:spPr>
          <a:xfrm>
            <a:off x="838200" y="1720840"/>
            <a:ext cx="60994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Задачи этапа: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Глобальная интерпретация моделей (</a:t>
            </a:r>
            <a:r>
              <a:rPr lang="en-US" dirty="0">
                <a:effectLst/>
                <a:latin typeface="Helvetica Neue" panose="02000503000000020004" pitchFamily="2" charset="0"/>
              </a:rPr>
              <a:t>SHAP, LIME)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Локальная интерпретация отдельных предсказаний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Построение </a:t>
            </a:r>
            <a:r>
              <a:rPr lang="en-US" dirty="0">
                <a:effectLst/>
                <a:latin typeface="Helvetica Neue" panose="02000503000000020004" pitchFamily="2" charset="0"/>
              </a:rPr>
              <a:t>SHAP-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эмбеддингов</a:t>
            </a:r>
            <a:r>
              <a:rPr lang="ru-RU" dirty="0">
                <a:effectLst/>
                <a:latin typeface="Helvetica Neue" panose="02000503000000020004" pitchFamily="2" charset="0"/>
              </a:rPr>
              <a:t> и анализ сдвигов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Кластеризация </a:t>
            </a:r>
            <a:r>
              <a:rPr lang="en-US" dirty="0">
                <a:effectLst/>
                <a:latin typeface="Helvetica Neue" panose="02000503000000020004" pitchFamily="2" charset="0"/>
              </a:rPr>
              <a:t>SHAP-</a:t>
            </a:r>
            <a:r>
              <a:rPr lang="ru-RU" dirty="0">
                <a:effectLst/>
                <a:latin typeface="Helvetica Neue" panose="02000503000000020004" pitchFamily="2" charset="0"/>
              </a:rPr>
              <a:t>пространства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Shapley Flow </a:t>
            </a:r>
            <a:r>
              <a:rPr lang="ru-RU" dirty="0">
                <a:effectLst/>
                <a:latin typeface="Helvetica Neue" panose="02000503000000020004" pitchFamily="2" charset="0"/>
              </a:rPr>
              <a:t>и граф взаимосвязей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Кросс-валидация с разными наборами признаков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Оптимизация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гиперпараметров</a:t>
            </a:r>
            <a:r>
              <a:rPr lang="ru-RU" dirty="0">
                <a:effectLst/>
                <a:latin typeface="Helvetica Neue" panose="02000503000000020004" pitchFamily="2" charset="0"/>
              </a:rPr>
              <a:t> 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Optuna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None/>
            </a:pP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Философия этапа: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"Анализ и выводы важнее, чем прирост метрик"</a:t>
            </a:r>
          </a:p>
        </p:txBody>
      </p:sp>
    </p:spTree>
    <p:extLst>
      <p:ext uri="{BB962C8B-B14F-4D97-AF65-F5344CB8AC3E}">
        <p14:creationId xmlns:p14="http://schemas.microsoft.com/office/powerpoint/2010/main" val="5825465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9C78-DD6C-9E84-358B-8E60ACCC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Обученные модели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63453-A393-3776-83E9-CF16D8CC6003}"/>
              </a:ext>
            </a:extLst>
          </p:cNvPr>
          <p:cNvSpPr txBox="1"/>
          <p:nvPr/>
        </p:nvSpPr>
        <p:spPr>
          <a:xfrm>
            <a:off x="838200" y="1408699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Оптимальные веса ансамбл</a:t>
            </a:r>
            <a:r>
              <a:rPr lang="ru-RU" dirty="0">
                <a:effectLst/>
                <a:latin typeface="Helvetica Neue" panose="02000503000000020004" pitchFamily="2" charset="0"/>
              </a:rPr>
              <a:t>я:</a:t>
            </a:r>
            <a:r>
              <a:rPr lang="en-US" dirty="0">
                <a:effectLst/>
                <a:latin typeface="Helvetica Neue" panose="02000503000000020004" pitchFamily="2" charset="0"/>
              </a:rPr>
              <a:t>Ridge: 0.03 (</a:t>
            </a:r>
            <a:r>
              <a:rPr lang="ru-RU" dirty="0">
                <a:effectLst/>
                <a:latin typeface="Helvetica Neue" panose="02000503000000020004" pitchFamily="2" charset="0"/>
              </a:rPr>
              <a:t>мин</a:t>
            </a:r>
          </a:p>
          <a:p>
            <a:pPr>
              <a:buNone/>
            </a:pPr>
            <a:r>
              <a:rPr lang="ru-RU" dirty="0" err="1">
                <a:effectLst/>
                <a:latin typeface="Helvetica Neue" panose="02000503000000020004" pitchFamily="2" charset="0"/>
              </a:rPr>
              <a:t>имальный</a:t>
            </a:r>
            <a:r>
              <a:rPr lang="ru-RU" dirty="0">
                <a:effectLst/>
                <a:latin typeface="Helvetica Neue" panose="02000503000000020004" pitchFamily="2" charset="0"/>
              </a:rPr>
              <a:t> вклад )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dirty="0">
                <a:effectLst/>
                <a:latin typeface="Helvetica Neue" panose="02000503000000020004" pitchFamily="2" charset="0"/>
              </a:rPr>
              <a:t>: 0.48CatBoost: 0.49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43AA25-90EF-6CFC-F71A-749952553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55718"/>
            <a:ext cx="7772400" cy="318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561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6358-5B48-A297-14ED-B096D238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Глобальная интерпретация — </a:t>
            </a:r>
            <a:r>
              <a:rPr lang="en-US" b="1" dirty="0"/>
              <a:t>SHAP Summary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F8765-2436-9B52-EC8F-FB05AD234070}"/>
              </a:ext>
            </a:extLst>
          </p:cNvPr>
          <p:cNvSpPr txBox="1"/>
          <p:nvPr/>
        </p:nvSpPr>
        <p:spPr>
          <a:xfrm>
            <a:off x="838200" y="1305341"/>
            <a:ext cx="60994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Ridge (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линейная модель):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главный предиктор (место приземления мяча)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x_start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начальная позиция игрока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vy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вертикальная составляющая скорости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b="1" dirty="0">
                <a:effectLst/>
                <a:latin typeface="Helvetica Neue" panose="02000503000000020004" pitchFamily="2" charset="0"/>
              </a:rPr>
              <a:t> (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ансамблевая модель):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x_interp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интерполированная позиция (наш признак!)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место приземления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x_start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начальная позиция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научился использовать наш </a:t>
            </a:r>
            <a:r>
              <a:rPr lang="en-US" dirty="0">
                <a:effectLst/>
                <a:latin typeface="Helvetica Neue" panose="02000503000000020004" pitchFamily="2" charset="0"/>
              </a:rPr>
              <a:t>engineered </a:t>
            </a:r>
            <a:r>
              <a:rPr lang="ru-RU" dirty="0">
                <a:effectLst/>
                <a:latin typeface="Helvetica Neue" panose="02000503000000020004" pitchFamily="2" charset="0"/>
              </a:rPr>
              <a:t>признак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x_interp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лучше, чем сырые данные!</a:t>
            </a:r>
          </a:p>
        </p:txBody>
      </p:sp>
    </p:spTree>
    <p:extLst>
      <p:ext uri="{BB962C8B-B14F-4D97-AF65-F5344CB8AC3E}">
        <p14:creationId xmlns:p14="http://schemas.microsoft.com/office/powerpoint/2010/main" val="4740186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letters&#10;&#10;AI-generated content may be incorrect.">
            <a:extLst>
              <a:ext uri="{FF2B5EF4-FFF2-40B4-BE49-F238E27FC236}">
                <a16:creationId xmlns:a16="http://schemas.microsoft.com/office/drawing/2014/main" id="{4BED6AC7-CF43-0DE4-7501-8B4A015E2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81" y="0"/>
            <a:ext cx="5654202" cy="6858000"/>
          </a:xfrm>
          <a:prstGeom prst="rect">
            <a:avLst/>
          </a:prstGeom>
        </p:spPr>
      </p:pic>
      <p:pic>
        <p:nvPicPr>
          <p:cNvPr id="6" name="Picture 5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C17760F0-84D2-A855-FA83-3C3D2A5AE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283" y="0"/>
            <a:ext cx="56542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71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F57C91A9-4BD2-7FE7-3B75-820C1EC3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03523" cy="6858000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DD05C9-F63B-62FA-BB25-BF82FDF85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018" y="1724016"/>
            <a:ext cx="6468918" cy="388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562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8CD4D-621F-BC9A-086D-3609093F9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LIME </a:t>
            </a:r>
            <a:r>
              <a:rPr lang="ru-RU" b="1" dirty="0"/>
              <a:t>интерпретация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4F9A8-B84B-11EC-9CB1-58AFF4DCB44D}"/>
              </a:ext>
            </a:extLst>
          </p:cNvPr>
          <p:cNvSpPr txBox="1"/>
          <p:nvPr/>
        </p:nvSpPr>
        <p:spPr>
          <a:xfrm>
            <a:off x="838200" y="1414562"/>
            <a:ext cx="609946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такое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LIME: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Local Interpretable Model-agnostic Explanations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Строит локальную линейную аппроксимацию вокруг точки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Показывает, какие признаки важны для конкретного предсказания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Результаты согласуются с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SHAP: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Ridge: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x_start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доминирует (линейная зависимость)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dirty="0">
                <a:effectLst/>
                <a:latin typeface="Helvetica Neue" panose="02000503000000020004" pitchFamily="2" charset="0"/>
              </a:rPr>
              <a:t>: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x_interp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важнее (нелинейные паттерны)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Корреляция рангов (</a:t>
            </a:r>
            <a:r>
              <a:rPr lang="en-US" b="1" dirty="0">
                <a:effectLst/>
                <a:latin typeface="Helvetica Neue" panose="02000503000000020004" pitchFamily="2" charset="0"/>
              </a:rPr>
              <a:t>Spearman):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SHAP Ridge vs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dirty="0">
                <a:effectLst/>
                <a:latin typeface="Helvetica Neue" panose="02000503000000020004" pitchFamily="2" charset="0"/>
              </a:rPr>
              <a:t>: r = 0.65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LIME Ridge vs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dirty="0">
                <a:effectLst/>
                <a:latin typeface="Helvetica Neue" panose="02000503000000020004" pitchFamily="2" charset="0"/>
              </a:rPr>
              <a:t>: r = 0.58</a:t>
            </a:r>
          </a:p>
        </p:txBody>
      </p:sp>
    </p:spTree>
    <p:extLst>
      <p:ext uri="{BB962C8B-B14F-4D97-AF65-F5344CB8AC3E}">
        <p14:creationId xmlns:p14="http://schemas.microsoft.com/office/powerpoint/2010/main" val="38016315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3D958AA4-995B-6584-2689-5AE26DE1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7" y="1289745"/>
            <a:ext cx="11526985" cy="427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5280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26D2F-BF82-79E8-4038-BB758CCBB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Локальная интерпретация — </a:t>
            </a:r>
            <a:r>
              <a:rPr lang="en-US" b="1" dirty="0"/>
              <a:t>Waterfall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F047EF-38BF-2745-DACA-BA5D5E0ADF12}"/>
              </a:ext>
            </a:extLst>
          </p:cNvPr>
          <p:cNvSpPr txBox="1"/>
          <p:nvPr/>
        </p:nvSpPr>
        <p:spPr>
          <a:xfrm>
            <a:off x="838200" y="1443841"/>
            <a:ext cx="609946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Анализ одного наблюдения (с большой ошибкой):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Ridge: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E[f(X)] = 62.86 (</a:t>
            </a:r>
            <a:r>
              <a:rPr lang="ru-RU" dirty="0">
                <a:effectLst/>
                <a:latin typeface="Helvetica Neue" panose="02000503000000020004" pitchFamily="2" charset="0"/>
              </a:rPr>
              <a:t>базовое предсказание)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 = -0.89 → </a:t>
            </a:r>
            <a:r>
              <a:rPr lang="ru-RU" dirty="0">
                <a:effectLst/>
                <a:latin typeface="Helvetica Neue" panose="02000503000000020004" pitchFamily="2" charset="0"/>
              </a:rPr>
              <a:t>вклад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-11.65</a:t>
            </a:r>
            <a:r>
              <a:rPr lang="ru-RU" dirty="0">
                <a:effectLst/>
                <a:latin typeface="Helvetica Neue" panose="02000503000000020004" pitchFamily="2" charset="0"/>
              </a:rPr>
              <a:t> (главный фактор!)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Итоговое предсказание: 50.29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Li</a:t>
            </a:r>
            <a:r>
              <a:rPr lang="en-US" b="1" dirty="0" err="1">
                <a:effectLst/>
                <a:latin typeface="Helvetica Neue" panose="02000503000000020004" pitchFamily="2" charset="0"/>
              </a:rPr>
              <a:t>ghtGBM</a:t>
            </a:r>
            <a:r>
              <a:rPr lang="en-US" b="1" dirty="0">
                <a:effectLst/>
                <a:latin typeface="Helvetica Neue" panose="02000503000000020004" pitchFamily="2" charset="0"/>
              </a:rPr>
              <a:t>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E[f(X)] = 60.28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x_interp</a:t>
            </a:r>
            <a:r>
              <a:rPr lang="en-US" dirty="0">
                <a:effectLst/>
                <a:latin typeface="Helvetica Neue" panose="02000503000000020004" pitchFamily="2" charset="0"/>
              </a:rPr>
              <a:t> = 45.03 → </a:t>
            </a:r>
            <a:r>
              <a:rPr lang="ru-RU" dirty="0">
                <a:effectLst/>
                <a:latin typeface="Helvetica Neue" panose="02000503000000020004" pitchFamily="2" charset="0"/>
              </a:rPr>
              <a:t>вклад -</a:t>
            </a:r>
            <a:r>
              <a:rPr lang="ru-RU" b="1" dirty="0">
                <a:effectLst/>
                <a:latin typeface="Helvetica Neue" panose="02000503000000020004" pitchFamily="2" charset="0"/>
              </a:rPr>
              <a:t>8.07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 = 36.01 → </a:t>
            </a:r>
            <a:r>
              <a:rPr lang="ru-RU" dirty="0">
                <a:effectLst/>
                <a:latin typeface="Helvetica Neue" panose="02000503000000020004" pitchFamily="2" charset="0"/>
              </a:rPr>
              <a:t>вклад -</a:t>
            </a:r>
            <a:r>
              <a:rPr lang="ru-RU" b="1" dirty="0">
                <a:effectLst/>
                <a:latin typeface="Helvetica Neue" panose="02000503000000020004" pitchFamily="2" charset="0"/>
              </a:rPr>
              <a:t>6.97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Итоговое: 48.04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распределяет влияние между несколькими признаками</a:t>
            </a:r>
          </a:p>
        </p:txBody>
      </p:sp>
    </p:spTree>
    <p:extLst>
      <p:ext uri="{BB962C8B-B14F-4D97-AF65-F5344CB8AC3E}">
        <p14:creationId xmlns:p14="http://schemas.microsoft.com/office/powerpoint/2010/main" val="17263606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number of mathematical equations&#10;&#10;AI-generated content may be incorrect.">
            <a:extLst>
              <a:ext uri="{FF2B5EF4-FFF2-40B4-BE49-F238E27FC236}">
                <a16:creationId xmlns:a16="http://schemas.microsoft.com/office/drawing/2014/main" id="{3A8DDFEE-AFF8-23BD-414E-BA3EC4889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68" y="748146"/>
            <a:ext cx="5299364" cy="4239491"/>
          </a:xfrm>
          <a:prstGeom prst="rect">
            <a:avLst/>
          </a:prstGeom>
        </p:spPr>
      </p:pic>
      <p:pic>
        <p:nvPicPr>
          <p:cNvPr id="6" name="Picture 5" descr="A graph of numbers and a diagram&#10;&#10;AI-generated content may be incorrect.">
            <a:extLst>
              <a:ext uri="{FF2B5EF4-FFF2-40B4-BE49-F238E27FC236}">
                <a16:creationId xmlns:a16="http://schemas.microsoft.com/office/drawing/2014/main" id="{945337F6-4ADC-9FB4-83BC-4CAAD12FA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332" y="872837"/>
            <a:ext cx="5239746" cy="423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9221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CBCBB-881B-98E5-CE44-514581BD5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SHAP-</a:t>
            </a:r>
            <a:r>
              <a:rPr lang="ru-RU" b="1" dirty="0" err="1"/>
              <a:t>эмбеддинги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0C5E1-7428-6292-B24D-2B86D5DC766E}"/>
              </a:ext>
            </a:extLst>
          </p:cNvPr>
          <p:cNvSpPr txBox="1"/>
          <p:nvPr/>
        </p:nvSpPr>
        <p:spPr>
          <a:xfrm>
            <a:off x="838200" y="1690688"/>
            <a:ext cx="60994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это: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SHAP-</a:t>
            </a:r>
            <a:r>
              <a:rPr lang="ru-RU" dirty="0">
                <a:effectLst/>
                <a:latin typeface="Helvetica Neue" panose="02000503000000020004" pitchFamily="2" charset="0"/>
              </a:rPr>
              <a:t>значения для каждого наблюдения образуют вектор в 31-мерном пространстве → это "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эмбеддинг</a:t>
            </a:r>
            <a:r>
              <a:rPr lang="ru-RU" dirty="0">
                <a:effectLst/>
                <a:latin typeface="Helvetica Neue" panose="02000503000000020004" pitchFamily="2" charset="0"/>
              </a:rPr>
              <a:t>" того, как модель видит данные.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Статистика: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SHAP-</a:t>
            </a:r>
            <a:r>
              <a:rPr lang="ru-RU" dirty="0" err="1">
                <a:effectLst/>
                <a:latin typeface=".AppleSystemUIFontMonospaced"/>
              </a:rPr>
              <a:t>эмбеддинги</a:t>
            </a:r>
            <a:r>
              <a:rPr lang="ru-RU" dirty="0">
                <a:effectLst/>
                <a:latin typeface=".AppleSystemUIFontMonospaced"/>
              </a:rPr>
              <a:t> </a:t>
            </a:r>
            <a:r>
              <a:rPr lang="en-US" dirty="0">
                <a:effectLst/>
                <a:latin typeface=".AppleSystemUIFontMonospaced"/>
              </a:rPr>
              <a:t>train: (44,834, 31)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SHAP-</a:t>
            </a:r>
            <a:r>
              <a:rPr lang="ru-RU" dirty="0" err="1">
                <a:effectLst/>
                <a:latin typeface=".AppleSystemUIFontMonospaced"/>
              </a:rPr>
              <a:t>эмбеддинги</a:t>
            </a:r>
            <a:r>
              <a:rPr lang="ru-RU" dirty="0">
                <a:effectLst/>
                <a:latin typeface=".AppleSystemUIFontMonospaced"/>
              </a:rPr>
              <a:t> </a:t>
            </a:r>
            <a:r>
              <a:rPr lang="en-US" dirty="0">
                <a:effectLst/>
                <a:latin typeface=".AppleSystemUIFontMonospaced"/>
              </a:rPr>
              <a:t>test:  (11,209, 31)</a:t>
            </a:r>
            <a:endParaRPr lang="ru-RU" dirty="0">
              <a:effectLst/>
              <a:latin typeface=".AppleSystemUIFontMonospaced"/>
            </a:endParaRPr>
          </a:p>
          <a:p>
            <a:pPr>
              <a:buNone/>
            </a:pP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Топ признаков по разбросу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SHAP:</a:t>
            </a:r>
            <a:endParaRPr lang="en-US" dirty="0">
              <a:effectLst/>
              <a:latin typeface="Helvetica Neue" panose="02000503000000020004" pitchFamily="2" charset="0"/>
            </a:endParaRP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8948CD2-C401-AAFC-83C6-AC9E80D4C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667065"/>
            <a:ext cx="6881091" cy="182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17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116E-06DA-F114-6A1F-020ACD2F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Выявление аномалий в </a:t>
            </a:r>
            <a:r>
              <a:rPr lang="en-US" b="1" dirty="0"/>
              <a:t>SHAP-</a:t>
            </a:r>
            <a:r>
              <a:rPr lang="ru-RU" b="1" dirty="0"/>
              <a:t>пространстве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09383-97A7-7E73-D2EB-5D7E0F5CEFF4}"/>
              </a:ext>
            </a:extLst>
          </p:cNvPr>
          <p:cNvSpPr txBox="1"/>
          <p:nvPr/>
        </p:nvSpPr>
        <p:spPr>
          <a:xfrm>
            <a:off x="838200" y="1312315"/>
            <a:ext cx="729961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Метод 1: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Z-score (|Z| &gt; 3)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Аномалий в </a:t>
            </a:r>
            <a:r>
              <a:rPr lang="en-US" dirty="0">
                <a:effectLst/>
                <a:latin typeface=".AppleSystemUIFontMonospaced"/>
              </a:rPr>
              <a:t>train: 10,628 (23.71%)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Аномалий в </a:t>
            </a:r>
            <a:r>
              <a:rPr lang="en-US" dirty="0">
                <a:effectLst/>
                <a:latin typeface=".AppleSystemUIFontMonospaced"/>
              </a:rPr>
              <a:t>test:  2,641 (23.56%)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Метод 2: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Isolation Forest (contamination=5%)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Аномалий в </a:t>
            </a:r>
            <a:r>
              <a:rPr lang="en-US" dirty="0">
                <a:effectLst/>
                <a:latin typeface=".AppleSystemUIFontMonospaced"/>
              </a:rPr>
              <a:t>train: 2,242 (5.00%)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Аномалий в </a:t>
            </a:r>
            <a:r>
              <a:rPr lang="en-US" dirty="0">
                <a:effectLst/>
                <a:latin typeface=".AppleSystemUIFontMonospaced"/>
              </a:rPr>
              <a:t>test:  487 (4.34%)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Анализ сдвига (</a:t>
            </a:r>
            <a:r>
              <a:rPr lang="en-US" b="1" dirty="0">
                <a:effectLst/>
                <a:latin typeface="Helvetica Neue" panose="02000503000000020004" pitchFamily="2" charset="0"/>
              </a:rPr>
              <a:t>KS-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тест):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Признаков со значимым сдвигом: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только 1</a:t>
            </a:r>
            <a:r>
              <a:rPr lang="ru-RU" dirty="0">
                <a:effectLst/>
                <a:latin typeface="Helvetica Neue" panose="02000503000000020004" pitchFamily="2" charset="0"/>
              </a:rPr>
              <a:t> 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num_frames_output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p &lt; 0.05 </a:t>
            </a:r>
            <a:r>
              <a:rPr lang="ru-RU" dirty="0">
                <a:effectLst/>
                <a:latin typeface="Helvetica Neue" panose="02000503000000020004" pitchFamily="2" charset="0"/>
              </a:rPr>
              <a:t>для остальных: </a:t>
            </a:r>
            <a:r>
              <a:rPr lang="en-US" dirty="0">
                <a:effectLst/>
                <a:latin typeface="Helvetica Neue" panose="02000503000000020004" pitchFamily="2" charset="0"/>
              </a:rPr>
              <a:t>False</a:t>
            </a:r>
          </a:p>
          <a:p>
            <a:pPr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Вывод: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Train </a:t>
            </a:r>
            <a:r>
              <a:rPr lang="ru-RU" dirty="0">
                <a:effectLst/>
                <a:latin typeface="Helvetica Neue" panose="02000503000000020004" pitchFamily="2" charset="0"/>
              </a:rPr>
              <a:t>и </a:t>
            </a:r>
            <a:r>
              <a:rPr lang="en-US" dirty="0">
                <a:effectLst/>
                <a:latin typeface="Helvetica Neue" panose="02000503000000020004" pitchFamily="2" charset="0"/>
              </a:rPr>
              <a:t>test </a:t>
            </a:r>
            <a:r>
              <a:rPr lang="ru-RU" dirty="0">
                <a:effectLst/>
                <a:latin typeface="Helvetica Neue" panose="02000503000000020004" pitchFamily="2" charset="0"/>
              </a:rPr>
              <a:t>распределены одинаково — модель стабильна!</a:t>
            </a:r>
          </a:p>
        </p:txBody>
      </p:sp>
    </p:spTree>
    <p:extLst>
      <p:ext uri="{BB962C8B-B14F-4D97-AF65-F5344CB8AC3E}">
        <p14:creationId xmlns:p14="http://schemas.microsoft.com/office/powerpoint/2010/main" val="42219591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452A-94AD-39A1-FE0C-E687B075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Эксперимент — очистка аномалий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25F21-7DCE-56C6-41A1-97C6C166AEA7}"/>
              </a:ext>
            </a:extLst>
          </p:cNvPr>
          <p:cNvSpPr txBox="1"/>
          <p:nvPr/>
        </p:nvSpPr>
        <p:spPr>
          <a:xfrm>
            <a:off x="838200" y="1263503"/>
            <a:ext cx="60994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Гипотеза:</a:t>
            </a:r>
            <a:r>
              <a:rPr lang="ru-RU" dirty="0">
                <a:effectLst/>
                <a:latin typeface="Helvetica Neue" panose="02000503000000020004" pitchFamily="2" charset="0"/>
              </a:rPr>
              <a:t> Удаление аномальных наблюдений улучшит модель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Эксперимент: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combined_anomalies</a:t>
            </a:r>
            <a:r>
              <a:rPr lang="en-US" dirty="0">
                <a:effectLst/>
                <a:latin typeface=".AppleSystemUIFontMonospaced"/>
              </a:rPr>
              <a:t> = </a:t>
            </a:r>
            <a:r>
              <a:rPr lang="en-US" dirty="0" err="1">
                <a:effectLst/>
                <a:latin typeface=".AppleSystemUIFontMonospaced"/>
              </a:rPr>
              <a:t>anomaly_z_train</a:t>
            </a:r>
            <a:r>
              <a:rPr lang="en-US" dirty="0">
                <a:effectLst/>
                <a:latin typeface=".AppleSystemUIFontMonospaced"/>
              </a:rPr>
              <a:t> | </a:t>
            </a:r>
            <a:r>
              <a:rPr lang="en-US" dirty="0" err="1">
                <a:effectLst/>
                <a:latin typeface=".AppleSystemUIFontMonospaced"/>
              </a:rPr>
              <a:t>anomaly_iso_train</a:t>
            </a: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Удалено: 10,726 (23.92%)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# </a:t>
            </a:r>
            <a:r>
              <a:rPr lang="en-US" dirty="0">
                <a:effectLst/>
                <a:latin typeface=".AppleSystemUIFontMonospaced"/>
              </a:rPr>
              <a:t>Train: 44,834 → 34,108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Вывод: Очистка НЕ помогла — аномалии содержат полезную информацию!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1A6E8A80-E3F8-28F8-009F-E67C54ED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82936"/>
            <a:ext cx="5500831" cy="242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2244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E45E-A657-430A-A1F2-FC3F18D01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Кластеризация </a:t>
            </a:r>
            <a:r>
              <a:rPr lang="en-US" b="1" dirty="0"/>
              <a:t>SHAP-</a:t>
            </a:r>
            <a:r>
              <a:rPr lang="ru-RU" b="1" dirty="0" err="1"/>
              <a:t>эмбеддингов</a:t>
            </a:r>
            <a:br>
              <a:rPr lang="ru-RU" dirty="0"/>
            </a:br>
            <a:r>
              <a:rPr lang="ru-RU" b="1" dirty="0"/>
              <a:t>Выбор </a:t>
            </a:r>
            <a:r>
              <a:rPr lang="en-US" b="1" dirty="0"/>
              <a:t>K: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2F24C-AB6A-898D-544F-F84C231877C9}"/>
              </a:ext>
            </a:extLst>
          </p:cNvPr>
          <p:cNvSpPr txBox="1"/>
          <p:nvPr/>
        </p:nvSpPr>
        <p:spPr>
          <a:xfrm>
            <a:off x="838200" y="1674674"/>
            <a:ext cx="60994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Метод локтя: изгиб при </a:t>
            </a:r>
            <a:r>
              <a:rPr lang="en-US" dirty="0">
                <a:effectLst/>
                <a:latin typeface="Helvetica Neue" panose="02000503000000020004" pitchFamily="2" charset="0"/>
              </a:rPr>
              <a:t>K=4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Silhouette: </a:t>
            </a:r>
            <a:r>
              <a:rPr lang="ru-RU" dirty="0">
                <a:effectLst/>
                <a:latin typeface="Helvetica Neue" panose="02000503000000020004" pitchFamily="2" charset="0"/>
              </a:rPr>
              <a:t>максимум при </a:t>
            </a:r>
            <a:r>
              <a:rPr lang="en-US" dirty="0">
                <a:effectLst/>
                <a:latin typeface="Helvetica Neue" panose="02000503000000020004" pitchFamily="2" charset="0"/>
              </a:rPr>
              <a:t>K=2, </a:t>
            </a:r>
            <a:r>
              <a:rPr lang="ru-RU" dirty="0">
                <a:effectLst/>
                <a:latin typeface="Helvetica Neue" panose="02000503000000020004" pitchFamily="2" charset="0"/>
              </a:rPr>
              <a:t>локальный пик при </a:t>
            </a:r>
            <a:r>
              <a:rPr lang="en-US" dirty="0">
                <a:effectLst/>
                <a:latin typeface="Helvetica Neue" panose="02000503000000020004" pitchFamily="2" charset="0"/>
              </a:rPr>
              <a:t>K=4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Выбрано: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K=4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Методы кластеризации: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DBSCAN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не сработал — данные слишком плотные</a:t>
            </a:r>
            <a:endParaRPr lang="ru-RU" dirty="0">
              <a:effectLst/>
              <a:latin typeface="Helvetica Neue" panose="02000503000000020004" pitchFamily="2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6B76B4-7BE4-FBAE-5212-97E1A3074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871479"/>
            <a:ext cx="5565486" cy="227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405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F28623E3-9A07-04AD-7291-80E72885E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51" y="1845107"/>
            <a:ext cx="11671498" cy="382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324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EC011-399E-3E5E-71B2-5F4F5EA4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Интерпретация кластеров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92C87D-BC12-68C5-A120-5205CE1AE0C3}"/>
              </a:ext>
            </a:extLst>
          </p:cNvPr>
          <p:cNvSpPr txBox="1"/>
          <p:nvPr/>
        </p:nvSpPr>
        <p:spPr>
          <a:xfrm>
            <a:off x="838200" y="1235747"/>
            <a:ext cx="60994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Характеристики кластеров (</a:t>
            </a:r>
            <a:r>
              <a:rPr lang="en-US" b="1" dirty="0">
                <a:effectLst/>
                <a:latin typeface="Helvetica Neue" panose="02000503000000020004" pitchFamily="2" charset="0"/>
              </a:rPr>
              <a:t>K-Means):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 Кластеры разделяются по позиции на поле (</a:t>
            </a:r>
            <a:r>
              <a:rPr lang="en-US" b="1" dirty="0" err="1">
                <a:effectLst/>
                <a:latin typeface="Helvetica Neue" panose="02000503000000020004" pitchFamily="2" charset="0"/>
              </a:rPr>
              <a:t>x_start</a:t>
            </a:r>
            <a:r>
              <a:rPr lang="en-US" b="1" dirty="0">
                <a:effectLst/>
                <a:latin typeface="Helvetica Neue" panose="02000503000000020004" pitchFamily="2" charset="0"/>
              </a:rPr>
              <a:t>)!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Кластер 0: правая часть поля (</a:t>
            </a:r>
            <a:r>
              <a:rPr lang="ru-RU" b="1" dirty="0" err="1">
                <a:effectLst/>
                <a:latin typeface="Helvetica Neue" panose="02000503000000020004" pitchFamily="2" charset="0"/>
              </a:rPr>
              <a:t>эндзона</a:t>
            </a:r>
            <a:r>
              <a:rPr lang="ru-RU" b="1" dirty="0">
                <a:effectLst/>
                <a:latin typeface="Helvetica Neue" panose="02000503000000020004" pitchFamily="2" charset="0"/>
              </a:rPr>
              <a:t>)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Кластер 2: левая часть поля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Кластеры 1, 3: центр</a:t>
            </a:r>
            <a:endParaRPr lang="ru-RU" dirty="0">
              <a:effectLst/>
              <a:latin typeface="Helvetica Neue" panose="02000503000000020004" pitchFamily="2" charset="0"/>
            </a:endParaRP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8502485-DBE6-6B95-C68A-D304168E4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10010"/>
            <a:ext cx="7772400" cy="292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415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map of different colors&#10;&#10;AI-generated content may be incorrect.">
            <a:extLst>
              <a:ext uri="{FF2B5EF4-FFF2-40B4-BE49-F238E27FC236}">
                <a16:creationId xmlns:a16="http://schemas.microsoft.com/office/drawing/2014/main" id="{10CA646E-B062-AF21-47D8-B7CF883A1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49" y="846752"/>
            <a:ext cx="10957302" cy="299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4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9B8C-44D5-5D30-5BA5-9E3155C0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Добавление кластеров как признака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70154-2DF2-8730-AB18-0B71834D105E}"/>
              </a:ext>
            </a:extLst>
          </p:cNvPr>
          <p:cNvSpPr txBox="1"/>
          <p:nvPr/>
        </p:nvSpPr>
        <p:spPr>
          <a:xfrm>
            <a:off x="838200" y="1397675"/>
            <a:ext cx="85759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Эксперимент: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X_train_clustered</a:t>
            </a:r>
            <a:r>
              <a:rPr lang="en-US" dirty="0">
                <a:effectLst/>
                <a:latin typeface=".AppleSystemUIFontMonospaced"/>
              </a:rPr>
              <a:t>['cluster'] = </a:t>
            </a:r>
            <a:r>
              <a:rPr lang="en-US" dirty="0" err="1">
                <a:effectLst/>
                <a:latin typeface=".AppleSystemUIFontMonospaced"/>
              </a:rPr>
              <a:t>kmeans_labels</a:t>
            </a: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# One-hot encoding </a:t>
            </a:r>
            <a:r>
              <a:rPr lang="ru-RU" dirty="0">
                <a:effectLst/>
                <a:latin typeface=".AppleSystemUIFontMonospaced"/>
              </a:rPr>
              <a:t>кластеров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X_train_with_cluster</a:t>
            </a:r>
            <a:r>
              <a:rPr lang="en-US" dirty="0">
                <a:effectLst/>
                <a:latin typeface=".AppleSystemUIFontMonospaced"/>
              </a:rPr>
              <a:t> = </a:t>
            </a:r>
            <a:r>
              <a:rPr lang="en-US" dirty="0" err="1">
                <a:effectLst/>
                <a:latin typeface=".AppleSystemUIFontMonospaced"/>
              </a:rPr>
              <a:t>pd.get_dummies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X_train_clustered</a:t>
            </a:r>
            <a:r>
              <a:rPr lang="en-US" dirty="0">
                <a:effectLst/>
                <a:latin typeface=".AppleSystemUIFontMonospaced"/>
              </a:rPr>
              <a:t>, columns=['cluster'])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Вывод: Кластеры не добавляют новой информации — </a:t>
            </a:r>
            <a:r>
              <a:rPr lang="en-US" dirty="0" err="1">
                <a:effectLst/>
                <a:latin typeface=".AppleSystemUIFontMonospaced"/>
              </a:rPr>
              <a:t>LightGBM</a:t>
            </a:r>
            <a:r>
              <a:rPr lang="en-US" dirty="0">
                <a:effectLst/>
                <a:latin typeface=".AppleSystemUIFontMonospaced"/>
              </a:rPr>
              <a:t> </a:t>
            </a:r>
            <a:r>
              <a:rPr lang="ru-RU" dirty="0">
                <a:effectLst/>
                <a:latin typeface=".AppleSystemUIFontMonospaced"/>
              </a:rPr>
              <a:t>уже её извлёк</a:t>
            </a:r>
          </a:p>
        </p:txBody>
      </p:sp>
      <p:pic>
        <p:nvPicPr>
          <p:cNvPr id="6" name="Picture 5" descr="A screenshot of a white paper&#10;&#10;AI-generated content may be incorrect.">
            <a:extLst>
              <a:ext uri="{FF2B5EF4-FFF2-40B4-BE49-F238E27FC236}">
                <a16:creationId xmlns:a16="http://schemas.microsoft.com/office/drawing/2014/main" id="{FE4FAC8B-EC0B-16F0-70D8-866807CDC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04" y="3084368"/>
            <a:ext cx="6413500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542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5E47-AC45-0F11-9AF1-FFE0F232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Граф взаимосвязей признаков</a:t>
            </a:r>
            <a:br>
              <a:rPr lang="ru-RU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95904-278D-EAB9-0B03-A067F41BA156}"/>
              </a:ext>
            </a:extLst>
          </p:cNvPr>
          <p:cNvSpPr txBox="1"/>
          <p:nvPr/>
        </p:nvSpPr>
        <p:spPr>
          <a:xfrm>
            <a:off x="838200" y="1242996"/>
            <a:ext cx="779837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Построение графа: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Рёбра: |</a:t>
            </a:r>
            <a:r>
              <a:rPr lang="en-US" dirty="0" err="1">
                <a:effectLst/>
                <a:latin typeface=".AppleSystemUIFontMonospaced"/>
              </a:rPr>
              <a:t>corr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SHAP_i</a:t>
            </a:r>
            <a:r>
              <a:rPr lang="en-US" dirty="0">
                <a:effectLst/>
                <a:latin typeface=".AppleSystemUIFontMonospaced"/>
              </a:rPr>
              <a:t>, </a:t>
            </a:r>
            <a:r>
              <a:rPr lang="en-US" dirty="0" err="1">
                <a:effectLst/>
                <a:latin typeface=".AppleSystemUIFontMonospaced"/>
              </a:rPr>
              <a:t>SHAP_j</a:t>
            </a:r>
            <a:r>
              <a:rPr lang="en-US" dirty="0">
                <a:effectLst/>
                <a:latin typeface=".AppleSystemUIFontMonospaced"/>
              </a:rPr>
              <a:t>)| &gt; 0.3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Размер узла = средний |</a:t>
            </a:r>
            <a:r>
              <a:rPr lang="en-US" dirty="0">
                <a:effectLst/>
                <a:latin typeface=".AppleSystemUIFontMonospaced"/>
              </a:rPr>
              <a:t>SHAP|</a:t>
            </a:r>
          </a:p>
          <a:p>
            <a:pPr>
              <a:buNone/>
            </a:pPr>
            <a:r>
              <a:rPr lang="ru-RU" dirty="0">
                <a:effectLst/>
                <a:latin typeface=".AppleSystemUIFontMonospaced"/>
              </a:rPr>
              <a:t>Граф: 31 узлов, 31 рёбер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Ключевые связи: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x_interp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центральный хаб (связан с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x_start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dir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ball_land_x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связан с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x_start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speed_to_ball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Изолированные узлы: </a:t>
            </a:r>
            <a:r>
              <a:rPr lang="en-US" dirty="0">
                <a:effectLst/>
                <a:latin typeface="Helvetica Neue" panose="02000503000000020004" pitchFamily="2" charset="0"/>
              </a:rPr>
              <a:t>a, s,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ball_land_y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Признаки </a:t>
            </a:r>
            <a:r>
              <a:rPr lang="en-US" dirty="0">
                <a:effectLst/>
                <a:latin typeface="Helvetica Neue" panose="02000503000000020004" pitchFamily="2" charset="0"/>
              </a:rPr>
              <a:t>X-</a:t>
            </a:r>
            <a:r>
              <a:rPr lang="ru-RU" dirty="0">
                <a:effectLst/>
                <a:latin typeface="Helvetica Neue" panose="02000503000000020004" pitchFamily="2" charset="0"/>
              </a:rPr>
              <a:t>координаты сильно взаимосвязаны, </a:t>
            </a:r>
            <a:r>
              <a:rPr lang="en-US" dirty="0">
                <a:effectLst/>
                <a:latin typeface="Helvetica Neue" panose="02000503000000020004" pitchFamily="2" charset="0"/>
              </a:rPr>
              <a:t>Y — </a:t>
            </a:r>
            <a:r>
              <a:rPr lang="ru-RU" dirty="0">
                <a:effectLst/>
                <a:latin typeface="Helvetica Neue" panose="02000503000000020004" pitchFamily="2" charset="0"/>
              </a:rPr>
              <a:t>независимы</a:t>
            </a:r>
          </a:p>
        </p:txBody>
      </p:sp>
    </p:spTree>
    <p:extLst>
      <p:ext uri="{BB962C8B-B14F-4D97-AF65-F5344CB8AC3E}">
        <p14:creationId xmlns:p14="http://schemas.microsoft.com/office/powerpoint/2010/main" val="26963570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01A71C04-3EBC-A1D1-494F-BDEE698B9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91" y="365125"/>
            <a:ext cx="7772400" cy="55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5111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D45D-88DE-61AC-209A-3C0D5F608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Shapley Flow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40769-AC8A-AE9B-7FCD-FA5202C8E9C1}"/>
              </a:ext>
            </a:extLst>
          </p:cNvPr>
          <p:cNvSpPr txBox="1"/>
          <p:nvPr/>
        </p:nvSpPr>
        <p:spPr>
          <a:xfrm>
            <a:off x="838200" y="1229326"/>
            <a:ext cx="711257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Идея:</a:t>
            </a:r>
            <a:r>
              <a:rPr lang="ru-RU" dirty="0">
                <a:effectLst/>
                <a:latin typeface="Helvetica Neue" panose="02000503000000020004" pitchFamily="2" charset="0"/>
              </a:rPr>
              <a:t> Учесть взаимосвязи между признаками при расчёте вклада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def</a:t>
            </a:r>
            <a:r>
              <a:rPr lang="en-US" dirty="0">
                <a:effectLst/>
                <a:latin typeface=".AppleSystemUIFontMonospaced"/>
              </a:rPr>
              <a:t> </a:t>
            </a:r>
            <a:r>
              <a:rPr lang="en-US" dirty="0" err="1">
                <a:effectLst/>
                <a:latin typeface=".AppleSystemUIFontMonospaced"/>
              </a:rPr>
              <a:t>compute_shapley_flow</a:t>
            </a:r>
            <a:r>
              <a:rPr lang="en-US" dirty="0">
                <a:effectLst/>
                <a:latin typeface=".AppleSystemUIFontMonospaced"/>
              </a:rPr>
              <a:t>(</a:t>
            </a:r>
            <a:r>
              <a:rPr lang="en-US" dirty="0" err="1">
                <a:effectLst/>
                <a:latin typeface=".AppleSystemUIFontMonospaced"/>
              </a:rPr>
              <a:t>shap_vals</a:t>
            </a:r>
            <a:r>
              <a:rPr lang="en-US" dirty="0">
                <a:effectLst/>
                <a:latin typeface=".AppleSystemUIFontMonospaced"/>
              </a:rPr>
              <a:t>, </a:t>
            </a:r>
            <a:r>
              <a:rPr lang="en-US" dirty="0" err="1">
                <a:effectLst/>
                <a:latin typeface=".AppleSystemUIFontMonospaced"/>
              </a:rPr>
              <a:t>corr_matrix</a:t>
            </a:r>
            <a:r>
              <a:rPr lang="en-US" dirty="0">
                <a:effectLst/>
                <a:latin typeface=".AppleSystemUIFontMonospaced"/>
              </a:rPr>
              <a:t>):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for </a:t>
            </a:r>
            <a:r>
              <a:rPr lang="en-US" dirty="0" err="1">
                <a:effectLst/>
                <a:latin typeface=".AppleSystemUIFontMonospaced"/>
              </a:rPr>
              <a:t>i</a:t>
            </a:r>
            <a:r>
              <a:rPr lang="en-US" dirty="0">
                <a:effectLst/>
                <a:latin typeface=".AppleSystemUIFontMonospaced"/>
              </a:rPr>
              <a:t> in range(</a:t>
            </a:r>
            <a:r>
              <a:rPr lang="en-US" dirty="0" err="1">
                <a:effectLst/>
                <a:latin typeface=".AppleSystemUIFontMonospaced"/>
              </a:rPr>
              <a:t>n_features</a:t>
            </a:r>
            <a:r>
              <a:rPr lang="en-US" dirty="0">
                <a:effectLst/>
                <a:latin typeface=".AppleSystemUIFontMonospaced"/>
              </a:rPr>
              <a:t>):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    flow[:, </a:t>
            </a:r>
            <a:r>
              <a:rPr lang="en-US" dirty="0" err="1">
                <a:effectLst/>
                <a:latin typeface=".AppleSystemUIFontMonospaced"/>
              </a:rPr>
              <a:t>i</a:t>
            </a:r>
            <a:r>
              <a:rPr lang="en-US" dirty="0">
                <a:effectLst/>
                <a:latin typeface=".AppleSystemUIFontMonospaced"/>
              </a:rPr>
              <a:t>] = </a:t>
            </a:r>
            <a:r>
              <a:rPr lang="en-US" dirty="0" err="1">
                <a:effectLst/>
                <a:latin typeface=".AppleSystemUIFontMonospaced"/>
              </a:rPr>
              <a:t>shap_vals</a:t>
            </a:r>
            <a:r>
              <a:rPr lang="en-US" dirty="0">
                <a:effectLst/>
                <a:latin typeface=".AppleSystemUIFontMonospaced"/>
              </a:rPr>
              <a:t>[:, </a:t>
            </a:r>
            <a:r>
              <a:rPr lang="en-US" dirty="0" err="1">
                <a:effectLst/>
                <a:latin typeface=".AppleSystemUIFontMonospaced"/>
              </a:rPr>
              <a:t>i</a:t>
            </a:r>
            <a:r>
              <a:rPr lang="en-US" dirty="0">
                <a:effectLst/>
                <a:latin typeface=".AppleSystemUIFontMonospaced"/>
              </a:rPr>
              <a:t>]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    for j in range(</a:t>
            </a:r>
            <a:r>
              <a:rPr lang="en-US" dirty="0" err="1">
                <a:effectLst/>
                <a:latin typeface=".AppleSystemUIFontMonospaced"/>
              </a:rPr>
              <a:t>n_features</a:t>
            </a:r>
            <a:r>
              <a:rPr lang="en-US" dirty="0">
                <a:effectLst/>
                <a:latin typeface=".AppleSystemUIFontMonospaced"/>
              </a:rPr>
              <a:t>):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        if </a:t>
            </a:r>
            <a:r>
              <a:rPr lang="en-US" dirty="0" err="1">
                <a:effectLst/>
                <a:latin typeface=".AppleSystemUIFontMonospaced"/>
              </a:rPr>
              <a:t>corr</a:t>
            </a:r>
            <a:r>
              <a:rPr lang="en-US" dirty="0">
                <a:effectLst/>
                <a:latin typeface=".AppleSystemUIFontMonospaced"/>
              </a:rPr>
              <a:t> &gt; 0.1: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            flow[:, </a:t>
            </a:r>
            <a:r>
              <a:rPr lang="en-US" dirty="0" err="1">
                <a:effectLst/>
                <a:latin typeface=".AppleSystemUIFontMonospaced"/>
              </a:rPr>
              <a:t>i</a:t>
            </a:r>
            <a:r>
              <a:rPr lang="en-US" dirty="0">
                <a:effectLst/>
                <a:latin typeface=".AppleSystemUIFontMonospaced"/>
              </a:rPr>
              <a:t>] += </a:t>
            </a:r>
            <a:r>
              <a:rPr lang="en-US" dirty="0" err="1">
                <a:effectLst/>
                <a:latin typeface=".AppleSystemUIFontMonospaced"/>
              </a:rPr>
              <a:t>corr</a:t>
            </a:r>
            <a:r>
              <a:rPr lang="en-US" dirty="0">
                <a:effectLst/>
                <a:latin typeface=".AppleSystemUIFontMonospaced"/>
              </a:rPr>
              <a:t> * </a:t>
            </a:r>
            <a:r>
              <a:rPr lang="en-US" dirty="0" err="1">
                <a:effectLst/>
                <a:latin typeface=".AppleSystemUIFontMonospaced"/>
              </a:rPr>
              <a:t>shap_vals</a:t>
            </a:r>
            <a:r>
              <a:rPr lang="en-US" dirty="0">
                <a:effectLst/>
                <a:latin typeface=".AppleSystemUIFontMonospaced"/>
              </a:rPr>
              <a:t>[:, j] * 0.1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return flow</a:t>
            </a:r>
            <a:endParaRPr lang="ru-RU" dirty="0">
              <a:latin typeface=".AppleSystemUIFontMonospaced"/>
            </a:endParaRPr>
          </a:p>
          <a:p>
            <a:pPr>
              <a:buNone/>
            </a:pP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Сравнение кластеризации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SHAP vs Flow: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Adjusted Rand Index: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0.9672</a:t>
            </a:r>
            <a:r>
              <a:rPr lang="en-US" dirty="0">
                <a:effectLst/>
                <a:latin typeface="Helvetica Neue" panose="02000503000000020004" pitchFamily="2" charset="0"/>
              </a:rPr>
              <a:t> (</a:t>
            </a:r>
            <a:r>
              <a:rPr lang="ru-RU" dirty="0">
                <a:effectLst/>
                <a:latin typeface="Helvetica Neue" panose="02000503000000020004" pitchFamily="2" charset="0"/>
              </a:rPr>
              <a:t>почти идеальное совпадение!)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Normalized Mutual Info: 0.</a:t>
            </a:r>
            <a:r>
              <a:rPr lang="en-US" b="1" dirty="0">
                <a:effectLst/>
                <a:latin typeface="Helvetica Neue" panose="02000503000000020004" pitchFamily="2" charset="0"/>
              </a:rPr>
              <a:t>9478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Вывод: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Flow </a:t>
            </a:r>
            <a:r>
              <a:rPr lang="ru-RU" dirty="0">
                <a:effectLst/>
                <a:latin typeface="Helvetica Neue" panose="02000503000000020004" pitchFamily="2" charset="0"/>
              </a:rPr>
              <a:t>не даёт принципиально новой информации </a:t>
            </a:r>
            <a:r>
              <a:rPr lang="en-US" dirty="0">
                <a:effectLst/>
                <a:latin typeface="Helvetica Neue" panose="02000503000000020004" pitchFamily="2" charset="0"/>
              </a:rPr>
              <a:t>vs SHAP</a:t>
            </a:r>
          </a:p>
        </p:txBody>
      </p:sp>
    </p:spTree>
    <p:extLst>
      <p:ext uri="{BB962C8B-B14F-4D97-AF65-F5344CB8AC3E}">
        <p14:creationId xmlns:p14="http://schemas.microsoft.com/office/powerpoint/2010/main" val="4064688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6FCCA-AD21-7D20-8FFD-9CF9A1295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Кросс-валидация — ключевой эксперимент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20DECA-6637-F1C0-0E75-B6C33810A3DC}"/>
              </a:ext>
            </a:extLst>
          </p:cNvPr>
          <p:cNvSpPr txBox="1"/>
          <p:nvPr/>
        </p:nvSpPr>
        <p:spPr>
          <a:xfrm>
            <a:off x="838200" y="1397675"/>
            <a:ext cx="60994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Улучшение от конкатенации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vs </a:t>
            </a:r>
            <a:r>
              <a:rPr lang="ru-RU" dirty="0">
                <a:effectLst/>
                <a:latin typeface="Helvetica Neue" panose="02000503000000020004" pitchFamily="2" charset="0"/>
              </a:rPr>
              <a:t>исходные: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-18.6%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🎉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vs SHAP-only: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-0.4%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Инсайт: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SHAP-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эмбеддинги</a:t>
            </a:r>
            <a:r>
              <a:rPr lang="ru-RU" dirty="0">
                <a:effectLst/>
                <a:latin typeface="Helvetica Neue" panose="02000503000000020004" pitchFamily="2" charset="0"/>
              </a:rPr>
              <a:t> содержат почти всю информацию! Исходные признаки добавляют минимум.</a:t>
            </a:r>
          </a:p>
        </p:txBody>
      </p:sp>
      <p:pic>
        <p:nvPicPr>
          <p:cNvPr id="6" name="Picture 5" descr="A screenshot of a white paper&#10;&#10;AI-generated content may be incorrect.">
            <a:extLst>
              <a:ext uri="{FF2B5EF4-FFF2-40B4-BE49-F238E27FC236}">
                <a16:creationId xmlns:a16="http://schemas.microsoft.com/office/drawing/2014/main" id="{4FF84C72-C828-3A86-4794-4056AE400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62218"/>
            <a:ext cx="7772400" cy="255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526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D48EF-D57E-8C91-A5E9-86044E5E7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Оптимизация </a:t>
            </a:r>
            <a:r>
              <a:rPr lang="ru-RU" b="1" dirty="0" err="1"/>
              <a:t>гиперпараметров</a:t>
            </a:r>
            <a:r>
              <a:rPr lang="ru-RU" b="1" dirty="0"/>
              <a:t> (</a:t>
            </a:r>
            <a:r>
              <a:rPr lang="en-US" b="1" dirty="0" err="1"/>
              <a:t>Optuna</a:t>
            </a:r>
            <a:r>
              <a:rPr lang="en-US" b="1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621724-BA20-1152-E62C-1E2D68F379B2}"/>
              </a:ext>
            </a:extLst>
          </p:cNvPr>
          <p:cNvSpPr txBox="1"/>
          <p:nvPr/>
        </p:nvSpPr>
        <p:spPr>
          <a:xfrm>
            <a:off x="838200" y="1305342"/>
            <a:ext cx="831099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Пространство поиска: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 err="1">
                <a:effectLst/>
                <a:latin typeface=".AppleSystemUIFontMonospaced"/>
              </a:rPr>
              <a:t>params</a:t>
            </a:r>
            <a:r>
              <a:rPr lang="en-US" dirty="0">
                <a:effectLst/>
                <a:latin typeface=".AppleSystemUIFontMonospaced"/>
              </a:rPr>
              <a:t> = {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"</a:t>
            </a:r>
            <a:r>
              <a:rPr lang="en-US" dirty="0" err="1">
                <a:effectLst/>
                <a:latin typeface=".AppleSystemUIFontMonospaced"/>
              </a:rPr>
              <a:t>n_estimators</a:t>
            </a:r>
            <a:r>
              <a:rPr lang="en-US" dirty="0">
                <a:effectLst/>
                <a:latin typeface=".AppleSystemUIFontMonospaced"/>
              </a:rPr>
              <a:t>": (300, 800),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"</a:t>
            </a:r>
            <a:r>
              <a:rPr lang="en-US" dirty="0" err="1">
                <a:effectLst/>
                <a:latin typeface=".AppleSystemUIFontMonospaced"/>
              </a:rPr>
              <a:t>max_depth</a:t>
            </a:r>
            <a:r>
              <a:rPr lang="en-US" dirty="0">
                <a:effectLst/>
                <a:latin typeface=".AppleSystemUIFontMonospaced"/>
              </a:rPr>
              <a:t>": (7, 11),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"</a:t>
            </a:r>
            <a:r>
              <a:rPr lang="en-US" dirty="0" err="1">
                <a:effectLst/>
                <a:latin typeface=".AppleSystemUIFontMonospaced"/>
              </a:rPr>
              <a:t>learning_rate</a:t>
            </a:r>
            <a:r>
              <a:rPr lang="en-US" dirty="0">
                <a:effectLst/>
                <a:latin typeface=".AppleSystemUIFontMonospaced"/>
              </a:rPr>
              <a:t>": (0.03, 0.1),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"</a:t>
            </a:r>
            <a:r>
              <a:rPr lang="en-US" dirty="0" err="1">
                <a:effectLst/>
                <a:latin typeface=".AppleSystemUIFontMonospaced"/>
              </a:rPr>
              <a:t>num_leaves</a:t>
            </a:r>
            <a:r>
              <a:rPr lang="en-US" dirty="0">
                <a:effectLst/>
                <a:latin typeface=".AppleSystemUIFontMonospaced"/>
              </a:rPr>
              <a:t>": (24, 64),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"</a:t>
            </a:r>
            <a:r>
              <a:rPr lang="en-US" dirty="0" err="1">
                <a:effectLst/>
                <a:latin typeface=".AppleSystemUIFontMonospaced"/>
              </a:rPr>
              <a:t>min_child_samples</a:t>
            </a:r>
            <a:r>
              <a:rPr lang="en-US" dirty="0">
                <a:effectLst/>
                <a:latin typeface=".AppleSystemUIFontMonospaced"/>
              </a:rPr>
              <a:t>": (20, 60),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"subsample": (0.75, 0.95),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   "</a:t>
            </a:r>
            <a:r>
              <a:rPr lang="en-US" dirty="0" err="1">
                <a:effectLst/>
                <a:latin typeface=".AppleSystemUIFontMonospaced"/>
              </a:rPr>
              <a:t>colsample_bytree</a:t>
            </a:r>
            <a:r>
              <a:rPr lang="en-US" dirty="0">
                <a:effectLst/>
                <a:latin typeface=".AppleSystemUIFontMonospaced"/>
              </a:rPr>
              <a:t>": (0.75, 0.95)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}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Лучшие параметры (50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trials):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>
                <a:effectLst/>
                <a:latin typeface=".AppleSystemUIFontMonospaced"/>
              </a:rPr>
              <a:t>{'</a:t>
            </a:r>
            <a:r>
              <a:rPr lang="en-US" dirty="0" err="1">
                <a:effectLst/>
                <a:latin typeface=".AppleSystemUIFontMonospaced"/>
              </a:rPr>
              <a:t>n_estimators</a:t>
            </a:r>
            <a:r>
              <a:rPr lang="en-US" dirty="0">
                <a:effectLst/>
                <a:latin typeface=".AppleSystemUIFontMonospaced"/>
              </a:rPr>
              <a:t>': 777, '</a:t>
            </a:r>
            <a:r>
              <a:rPr lang="en-US" dirty="0" err="1">
                <a:effectLst/>
                <a:latin typeface=".AppleSystemUIFontMonospaced"/>
              </a:rPr>
              <a:t>max_depth</a:t>
            </a:r>
            <a:r>
              <a:rPr lang="en-US" dirty="0">
                <a:effectLst/>
                <a:latin typeface=".AppleSystemUIFontMonospaced"/>
              </a:rPr>
              <a:t>': 11, 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'</a:t>
            </a:r>
            <a:r>
              <a:rPr lang="en-US" dirty="0" err="1">
                <a:effectLst/>
                <a:latin typeface=".AppleSystemUIFontMonospaced"/>
              </a:rPr>
              <a:t>learning_rate</a:t>
            </a:r>
            <a:r>
              <a:rPr lang="en-US" dirty="0">
                <a:effectLst/>
                <a:latin typeface=".AppleSystemUIFontMonospaced"/>
              </a:rPr>
              <a:t>': 0.081, '</a:t>
            </a:r>
            <a:r>
              <a:rPr lang="en-US" dirty="0" err="1">
                <a:effectLst/>
                <a:latin typeface=".AppleSystemUIFontMonospaced"/>
              </a:rPr>
              <a:t>num_leaves</a:t>
            </a:r>
            <a:r>
              <a:rPr lang="en-US" dirty="0">
                <a:effectLst/>
                <a:latin typeface=".AppleSystemUIFontMonospaced"/>
              </a:rPr>
              <a:t>': 63,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'</a:t>
            </a:r>
            <a:r>
              <a:rPr lang="en-US" dirty="0" err="1">
                <a:effectLst/>
                <a:latin typeface=".AppleSystemUIFontMonospaced"/>
              </a:rPr>
              <a:t>min_child_samples</a:t>
            </a:r>
            <a:r>
              <a:rPr lang="en-US" dirty="0">
                <a:effectLst/>
                <a:latin typeface=".AppleSystemUIFontMonospaced"/>
              </a:rPr>
              <a:t>': 22, 'subsample': 0.94,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 '</a:t>
            </a:r>
            <a:r>
              <a:rPr lang="en-US" dirty="0" err="1">
                <a:effectLst/>
                <a:latin typeface=".AppleSystemUIFontMonospaced"/>
              </a:rPr>
              <a:t>colsample_bytree</a:t>
            </a:r>
            <a:r>
              <a:rPr lang="en-US" dirty="0">
                <a:effectLst/>
                <a:latin typeface=".AppleSystemUIFontMonospaced"/>
              </a:rPr>
              <a:t>': 0.88}</a:t>
            </a:r>
          </a:p>
        </p:txBody>
      </p:sp>
    </p:spTree>
    <p:extLst>
      <p:ext uri="{BB962C8B-B14F-4D97-AF65-F5344CB8AC3E}">
        <p14:creationId xmlns:p14="http://schemas.microsoft.com/office/powerpoint/2010/main" val="34694574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C562AB-A10A-9D03-10EA-222638151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11185" cy="56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44440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E2D60-6622-B67F-694D-5B6EF357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Итоговая таблица экспериментов</a:t>
            </a:r>
            <a:br>
              <a:rPr lang="ru-RU" dirty="0"/>
            </a:br>
            <a:endParaRPr lang="en-US" dirty="0"/>
          </a:p>
        </p:txBody>
      </p:sp>
      <p:pic>
        <p:nvPicPr>
          <p:cNvPr id="4" name="Picture 3" descr="A screenshot of a screen&#10;&#10;AI-generated content may be incorrect.">
            <a:extLst>
              <a:ext uri="{FF2B5EF4-FFF2-40B4-BE49-F238E27FC236}">
                <a16:creationId xmlns:a16="http://schemas.microsoft.com/office/drawing/2014/main" id="{E7E06280-D320-21FC-AA0F-856144B6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2482"/>
            <a:ext cx="6572827" cy="472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0991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67382-7252-1112-874B-04AB8E209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выводы проекта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356DB6-4EAF-1D1D-1E74-049AD234E070}"/>
              </a:ext>
            </a:extLst>
          </p:cNvPr>
          <p:cNvSpPr txBox="1"/>
          <p:nvPr/>
        </p:nvSpPr>
        <p:spPr>
          <a:xfrm>
            <a:off x="838200" y="1372999"/>
            <a:ext cx="78607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1. Данные: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NFL tracking data — </a:t>
            </a:r>
            <a:r>
              <a:rPr lang="ru-RU" dirty="0">
                <a:effectLst/>
                <a:latin typeface="Helvetica Neue" panose="02000503000000020004" pitchFamily="2" charset="0"/>
              </a:rPr>
              <a:t>качественные и информативные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Аномалии (выбросы) содержат полезную информацию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Train/test </a:t>
            </a:r>
            <a:r>
              <a:rPr lang="ru-RU" dirty="0">
                <a:effectLst/>
                <a:latin typeface="Helvetica Neue" panose="02000503000000020004" pitchFamily="2" charset="0"/>
              </a:rPr>
              <a:t>стабильны (нет сдвига)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2. Признаки: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x_interp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лучший </a:t>
            </a:r>
            <a:r>
              <a:rPr lang="en-US" dirty="0">
                <a:effectLst/>
                <a:latin typeface="Helvetica Neue" panose="02000503000000020004" pitchFamily="2" charset="0"/>
              </a:rPr>
              <a:t>engineered </a:t>
            </a:r>
            <a:r>
              <a:rPr lang="ru-RU" dirty="0">
                <a:effectLst/>
                <a:latin typeface="Helvetica Neue" panose="02000503000000020004" pitchFamily="2" charset="0"/>
              </a:rPr>
              <a:t>признак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KNN-</a:t>
            </a:r>
            <a:r>
              <a:rPr lang="ru-RU" dirty="0">
                <a:effectLst/>
                <a:latin typeface="Helvetica Neue" panose="02000503000000020004" pitchFamily="2" charset="0"/>
              </a:rPr>
              <a:t>признаки не дали значительного улучшения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SHAP-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эмбеддинги</a:t>
            </a:r>
            <a:r>
              <a:rPr lang="ru-RU" dirty="0">
                <a:effectLst/>
                <a:latin typeface="Helvetica Neue" panose="02000503000000020004" pitchFamily="2" charset="0"/>
              </a:rPr>
              <a:t> — мощный мета-признак</a:t>
            </a:r>
          </a:p>
          <a:p>
            <a:pPr>
              <a:buNone/>
            </a:pP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3.</a:t>
            </a:r>
            <a:r>
              <a:rPr lang="ru-RU" b="1" dirty="0">
                <a:effectLst/>
                <a:latin typeface="Helvetica Neue" panose="02000503000000020004" pitchFamily="2" charset="0"/>
              </a:rPr>
              <a:t> Модели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LightGBM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лучше </a:t>
            </a:r>
            <a:r>
              <a:rPr lang="en-US" dirty="0">
                <a:effectLst/>
                <a:latin typeface="Helvetica Neue" panose="02000503000000020004" pitchFamily="2" charset="0"/>
              </a:rPr>
              <a:t>Ridge </a:t>
            </a:r>
            <a:r>
              <a:rPr lang="ru-RU" dirty="0">
                <a:effectLst/>
                <a:latin typeface="Helvetica Neue" panose="02000503000000020004" pitchFamily="2" charset="0"/>
              </a:rPr>
              <a:t>на нелинейных зависимостях</a:t>
            </a:r>
          </a:p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Ансамбль даёт минимальный прирост</a:t>
            </a:r>
          </a:p>
          <a:p>
            <a:pPr>
              <a:buNone/>
            </a:pPr>
            <a:r>
              <a:rPr lang="en-US" dirty="0" err="1">
                <a:effectLst/>
                <a:latin typeface="Helvetica Neue" panose="02000503000000020004" pitchFamily="2" charset="0"/>
              </a:rPr>
              <a:t>Optuna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критически важен для финального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211655587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BDAC-C9E5-9E29-F185-5D2C65B9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не сработало</a:t>
            </a:r>
            <a:endParaRPr lang="en-US" dirty="0"/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CC7E9168-E9C8-46DE-EC4D-E1D6C5F00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9833"/>
            <a:ext cx="7772400" cy="245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294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7FCD4-A441-E8A9-4EC9-AE5390C3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Финальный слайд — Резюме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483A6-B7A8-CCCB-04DE-BF7DB6C2B8B9}"/>
              </a:ext>
            </a:extLst>
          </p:cNvPr>
          <p:cNvSpPr txBox="1"/>
          <p:nvPr/>
        </p:nvSpPr>
        <p:spPr>
          <a:xfrm>
            <a:off x="838200" y="1690688"/>
            <a:ext cx="83109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🏆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Достижения проекта: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EDA: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Глубокий анализ 4.9</a:t>
            </a:r>
            <a:r>
              <a:rPr lang="en-US" dirty="0">
                <a:effectLst/>
                <a:latin typeface="Helvetica Neue" panose="02000503000000020004" pitchFamily="2" charset="0"/>
              </a:rPr>
              <a:t>M </a:t>
            </a:r>
            <a:r>
              <a:rPr lang="ru-RU" dirty="0">
                <a:effectLst/>
                <a:latin typeface="Helvetica Neue" panose="02000503000000020004" pitchFamily="2" charset="0"/>
              </a:rPr>
              <a:t>записей, выявление паттернов по ролям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Аномалии: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Z-score, IQR, Isolation Forest — </a:t>
            </a:r>
            <a:r>
              <a:rPr lang="ru-RU" dirty="0">
                <a:effectLst/>
                <a:latin typeface="Helvetica Neue" panose="02000503000000020004" pitchFamily="2" charset="0"/>
              </a:rPr>
              <a:t>флаги вместо удаления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Признаки:</a:t>
            </a:r>
            <a:r>
              <a:rPr lang="ru-RU" dirty="0">
                <a:effectLst/>
                <a:latin typeface="Helvetica Neue" panose="02000503000000020004" pitchFamily="2" charset="0"/>
              </a:rPr>
              <a:t> 50+ признаков, включая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x_interp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knn_density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ru-RU" dirty="0">
                <a:effectLst/>
                <a:latin typeface="Helvetica Neue" panose="02000503000000020004" pitchFamily="2" charset="0"/>
              </a:rPr>
              <a:t>временные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Интерпретация: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SHAP, LIME, Shapley Flow — </a:t>
            </a:r>
            <a:r>
              <a:rPr lang="ru-RU" dirty="0">
                <a:effectLst/>
                <a:latin typeface="Helvetica Neue" panose="02000503000000020004" pitchFamily="2" charset="0"/>
              </a:rPr>
              <a:t>полное понимание модели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Результат: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>
                <a:effectLst/>
                <a:latin typeface="Helvetica Neue" panose="02000503000000020004" pitchFamily="2" charset="0"/>
              </a:rPr>
              <a:t>RMSE 3.886 →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2.87</a:t>
            </a:r>
            <a:r>
              <a:rPr lang="en-US" dirty="0">
                <a:effectLst/>
                <a:latin typeface="Helvetica Neue" panose="02000503000000020004" pitchFamily="2" charset="0"/>
              </a:rPr>
              <a:t> (</a:t>
            </a:r>
            <a:r>
              <a:rPr lang="ru-RU" dirty="0">
                <a:effectLst/>
                <a:latin typeface="Helvetica Neue" panose="02000503000000020004" pitchFamily="2" charset="0"/>
              </a:rPr>
              <a:t>улучшение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26%</a:t>
            </a:r>
            <a:r>
              <a:rPr lang="ru-RU" dirty="0">
                <a:effectLst/>
                <a:latin typeface="Helvetica Neue" panose="02000503000000020004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557003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63E0-826A-BC73-CCF8-85EB673C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Наше </a:t>
            </a:r>
            <a:r>
              <a:rPr lang="en-US" b="1" dirty="0"/>
              <a:t>Kaggle-</a:t>
            </a:r>
            <a:r>
              <a:rPr lang="ru-RU" b="1" dirty="0"/>
              <a:t>решение — Архитектура </a:t>
            </a:r>
            <a:r>
              <a:rPr lang="en-US" b="1" dirty="0"/>
              <a:t>🏆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6D294-E90F-BAF2-9FC4-ED4734510417}"/>
              </a:ext>
            </a:extLst>
          </p:cNvPr>
          <p:cNvSpPr txBox="1"/>
          <p:nvPr/>
        </p:nvSpPr>
        <p:spPr>
          <a:xfrm>
            <a:off x="838200" y="1233488"/>
            <a:ext cx="60994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>
                <a:effectLst/>
                <a:latin typeface="Helvetica Neue" panose="02000503000000020004" pitchFamily="2" charset="0"/>
              </a:rPr>
              <a:t>Р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езультат: 0.534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RMSE (Top-10, 1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место = 0.460)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E</a:t>
            </a:r>
            <a:r>
              <a:rPr lang="en-US" b="1" dirty="0">
                <a:effectLst/>
                <a:latin typeface="Helvetica Neue" panose="02000503000000020004" pitchFamily="2" charset="0"/>
              </a:rPr>
              <a:t>nsemble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из 3 нейросетевых моделей: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Взвешивание: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Inverse Score Weighting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 err="1">
                <a:effectLst/>
                <a:latin typeface="Helvetica Neue" panose="02000503000000020004" pitchFamily="2" charset="0"/>
              </a:rPr>
              <a:t>w</a:t>
            </a:r>
            <a:r>
              <a:rPr lang="en-US" dirty="0" err="1">
                <a:effectLst/>
                <a:latin typeface=".AppleSystemUIFontMonospaced"/>
              </a:rPr>
              <a:t>_i</a:t>
            </a:r>
            <a:r>
              <a:rPr lang="en-US" dirty="0">
                <a:effectLst/>
                <a:latin typeface=".AppleSystemUIFontMonospaced"/>
              </a:rPr>
              <a:t> = (1/</a:t>
            </a:r>
            <a:r>
              <a:rPr lang="en-US" dirty="0" err="1">
                <a:effectLst/>
                <a:latin typeface=".AppleSystemUIFontMonospaced"/>
              </a:rPr>
              <a:t>score_i</a:t>
            </a:r>
            <a:r>
              <a:rPr lang="en-US" dirty="0">
                <a:effectLst/>
                <a:latin typeface=".AppleSystemUIFontMonospaced"/>
              </a:rPr>
              <a:t>) / </a:t>
            </a:r>
            <a:r>
              <a:rPr lang="el-GR" dirty="0">
                <a:effectLst/>
                <a:latin typeface=".AppleSystemUIFontMonospaced"/>
              </a:rPr>
              <a:t>Σ(1/</a:t>
            </a:r>
            <a:r>
              <a:rPr lang="en-US" dirty="0" err="1">
                <a:effectLst/>
                <a:latin typeface=".AppleSystemUIFontMonospaced"/>
              </a:rPr>
              <a:t>score_j</a:t>
            </a:r>
            <a:r>
              <a:rPr lang="en-US" dirty="0">
                <a:effectLst/>
                <a:latin typeface=".AppleSystemUIFontMonospaced"/>
              </a:rPr>
              <a:t>)</a:t>
            </a: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Чем лучше модель → больше вес</a:t>
            </a:r>
          </a:p>
          <a:p>
            <a:pPr>
              <a:buNone/>
            </a:pPr>
            <a:endParaRPr lang="ru-RU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Финальное предсказание: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p</a:t>
            </a:r>
            <a:r>
              <a:rPr lang="en-US" dirty="0">
                <a:effectLst/>
                <a:latin typeface=".AppleSystemUIFontMonospaced"/>
              </a:rPr>
              <a:t>red = </a:t>
            </a:r>
            <a:r>
              <a:rPr lang="en-US" dirty="0" err="1">
                <a:effectLst/>
                <a:latin typeface=".AppleSystemUIFontMonospaced"/>
              </a:rPr>
              <a:t>w_gru</a:t>
            </a:r>
            <a:r>
              <a:rPr lang="en-US" dirty="0">
                <a:effectLst/>
                <a:latin typeface=".AppleSystemUIFontMonospaced"/>
              </a:rPr>
              <a:t> * </a:t>
            </a:r>
            <a:r>
              <a:rPr lang="en-US" dirty="0" err="1">
                <a:effectLst/>
                <a:latin typeface=".AppleSystemUIFontMonospaced"/>
              </a:rPr>
              <a:t>pred_gru</a:t>
            </a:r>
            <a:r>
              <a:rPr lang="en-US" dirty="0">
                <a:effectLst/>
                <a:latin typeface=".AppleSystemUIFontMonospaced"/>
              </a:rPr>
              <a:t> + </a:t>
            </a:r>
            <a:r>
              <a:rPr lang="en-US" dirty="0" err="1">
                <a:effectLst/>
                <a:latin typeface=".AppleSystemUIFontMonospaced"/>
              </a:rPr>
              <a:t>w_gnn</a:t>
            </a:r>
            <a:r>
              <a:rPr lang="en-US" dirty="0">
                <a:effectLst/>
                <a:latin typeface=".AppleSystemUIFontMonospaced"/>
              </a:rPr>
              <a:t> * </a:t>
            </a:r>
            <a:r>
              <a:rPr lang="en-US" dirty="0" err="1">
                <a:effectLst/>
                <a:latin typeface=".AppleSystemUIFontMonospaced"/>
              </a:rPr>
              <a:t>pred_gnn</a:t>
            </a:r>
            <a:r>
              <a:rPr lang="en-US" dirty="0">
                <a:effectLst/>
                <a:latin typeface=".AppleSystemUIFontMonospaced"/>
              </a:rPr>
              <a:t> + w_gru2 * pred_gru2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C50A22-9D97-2B34-1A4F-616A8C6F2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95810"/>
            <a:ext cx="7772400" cy="254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036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091D9-6493-BBC7-FD72-F7F14A44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Ключевые технические решения </a:t>
            </a:r>
            <a:r>
              <a:rPr lang="en-US" b="1" dirty="0"/>
              <a:t>Kaggle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7CF7B2-97CD-A15D-6A49-1CC4664DE53A}"/>
              </a:ext>
            </a:extLst>
          </p:cNvPr>
          <p:cNvSpPr txBox="1"/>
          <p:nvPr/>
        </p:nvSpPr>
        <p:spPr>
          <a:xfrm>
            <a:off x="838200" y="1027906"/>
            <a:ext cx="846339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1</a:t>
            </a:r>
            <a:r>
              <a:rPr lang="en-US" b="1" dirty="0">
                <a:effectLst/>
                <a:latin typeface="Helvetica Neue" panose="02000503000000020004" pitchFamily="2" charset="0"/>
              </a:rPr>
              <a:t>. Feature Engineering (167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признаков):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 Главный прорыв —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Geometric Features: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python</a:t>
            </a: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Где игрок ДОЛЖЕН оказаться по геометрии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geo_endpoint_x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ball_land_x</a:t>
            </a:r>
            <a:r>
              <a:rPr lang="en-US" dirty="0">
                <a:effectLst/>
                <a:latin typeface=".AppleSystemUIFontMonospaced"/>
              </a:rPr>
              <a:t>  # </a:t>
            </a:r>
            <a:r>
              <a:rPr lang="ru-RU" dirty="0">
                <a:effectLst/>
                <a:latin typeface=".AppleSystemUIFontMonospaced"/>
              </a:rPr>
              <a:t>для </a:t>
            </a:r>
            <a:r>
              <a:rPr lang="en-US" dirty="0">
                <a:effectLst/>
                <a:latin typeface=".AppleSystemUIFontMonospaced"/>
              </a:rPr>
              <a:t>receiver</a:t>
            </a:r>
          </a:p>
          <a:p>
            <a:pPr>
              <a:buNone/>
            </a:pPr>
            <a:r>
              <a:rPr lang="en-US" dirty="0" err="1">
                <a:effectLst/>
                <a:latin typeface=".AppleSystemUIFontMonospaced"/>
              </a:rPr>
              <a:t>df</a:t>
            </a:r>
            <a:r>
              <a:rPr lang="en-US" dirty="0">
                <a:effectLst/>
                <a:latin typeface=".AppleSystemUIFontMonospaced"/>
              </a:rPr>
              <a:t>['</a:t>
            </a:r>
            <a:r>
              <a:rPr lang="en-US" dirty="0" err="1">
                <a:effectLst/>
                <a:latin typeface=".AppleSystemUIFontMonospaced"/>
              </a:rPr>
              <a:t>geo_endpoint_y</a:t>
            </a:r>
            <a:r>
              <a:rPr lang="en-US" dirty="0">
                <a:effectLst/>
                <a:latin typeface=".AppleSystemUIFontMonospaced"/>
              </a:rPr>
              <a:t>'] = </a:t>
            </a:r>
            <a:r>
              <a:rPr lang="en-US" dirty="0" err="1">
                <a:effectLst/>
                <a:latin typeface=".AppleSystemUIFontMonospaced"/>
              </a:rPr>
              <a:t>ball_land_y</a:t>
            </a:r>
            <a:endParaRPr lang="en-US" dirty="0">
              <a:effectLst/>
              <a:latin typeface=".AppleSystemUIFontMonospaced"/>
            </a:endParaRPr>
          </a:p>
          <a:p>
            <a:pPr>
              <a:buNone/>
            </a:pPr>
            <a:r>
              <a:rPr lang="en-US" dirty="0">
                <a:effectLst/>
                <a:latin typeface=".AppleSystemUIFontMonospaced"/>
              </a:rPr>
              <a:t># </a:t>
            </a:r>
            <a:r>
              <a:rPr lang="ru-RU" dirty="0">
                <a:effectLst/>
                <a:latin typeface=".AppleSystemUIFontMonospaced"/>
              </a:rPr>
              <a:t>Модель учит только КОРРЕКЦИИ к геометрии!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2. Продвинутые техники: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Multi-seed ensemble: 5 seeds × 5 folds = 25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моделей на архитектуру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TTA (Test-Time Augmentation): 6×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с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noise + flip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Temporal Huber Loss + velocity smoothing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b="1" dirty="0" err="1">
                <a:effectLst/>
                <a:latin typeface="Helvetica Neue" panose="02000503000000020004" pitchFamily="2" charset="0"/>
              </a:rPr>
              <a:t>GroupKFold</a:t>
            </a:r>
            <a:r>
              <a:rPr lang="en-US" b="1" dirty="0">
                <a:effectLst/>
                <a:latin typeface="Helvetica Neue" panose="02000503000000020004" pitchFamily="2" charset="0"/>
              </a:rPr>
              <a:t>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по </a:t>
            </a:r>
            <a:r>
              <a:rPr lang="en-US" b="1" dirty="0" err="1">
                <a:effectLst/>
                <a:latin typeface="Helvetica Neue" panose="02000503000000020004" pitchFamily="2" charset="0"/>
              </a:rPr>
              <a:t>play_id</a:t>
            </a:r>
            <a:r>
              <a:rPr lang="en-US" b="1" dirty="0">
                <a:effectLst/>
                <a:latin typeface="Helvetica Neue" panose="02000503000000020004" pitchFamily="2" charset="0"/>
              </a:rPr>
              <a:t> (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без утечки данных)</a:t>
            </a:r>
            <a:endParaRPr lang="ru-RU" dirty="0"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5186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E4ACB3-30F1-41E7-6499-2A337F640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350" y="1593850"/>
            <a:ext cx="76073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65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F02B-D91A-B4B9-795D-FC54C8FF5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58697"/>
            <a:ext cx="10515600" cy="1325563"/>
          </a:xfrm>
        </p:spPr>
        <p:txBody>
          <a:bodyPr/>
          <a:lstStyle/>
          <a:p>
            <a:r>
              <a:rPr lang="ru-RU" dirty="0"/>
              <a:t>Сравнение — Проект </a:t>
            </a:r>
            <a:r>
              <a:rPr lang="en-US" dirty="0"/>
              <a:t>vs Kaggle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D32E6-4FEE-DCCE-A9F6-0045FA4811C4}"/>
              </a:ext>
            </a:extLst>
          </p:cNvPr>
          <p:cNvSpPr txBox="1"/>
          <p:nvPr/>
        </p:nvSpPr>
        <p:spPr>
          <a:xfrm>
            <a:off x="277091" y="1098309"/>
            <a:ext cx="400396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Почему такая разница в метриках?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Разные данные: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val</a:t>
            </a:r>
            <a:r>
              <a:rPr lang="en-US" dirty="0">
                <a:effectLst/>
                <a:latin typeface="Helvetica Neue" panose="02000503000000020004" pitchFamily="2" charset="0"/>
              </a:rPr>
              <a:t>-split vs </a:t>
            </a:r>
            <a:r>
              <a:rPr lang="ru-RU" dirty="0">
                <a:effectLst/>
                <a:latin typeface="Helvetica Neue" panose="02000503000000020004" pitchFamily="2" charset="0"/>
              </a:rPr>
              <a:t>скрытый тест </a:t>
            </a:r>
            <a:r>
              <a:rPr lang="en-US" dirty="0">
                <a:effectLst/>
                <a:latin typeface="Helvetica Neue" panose="02000503000000020004" pitchFamily="2" charset="0"/>
              </a:rPr>
              <a:t>Kaggle</a:t>
            </a: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Масштаб:</a:t>
            </a:r>
            <a:r>
              <a:rPr lang="ru-RU" dirty="0">
                <a:effectLst/>
                <a:latin typeface="Helvetica Neue" panose="02000503000000020004" pitchFamily="2" charset="0"/>
              </a:rPr>
              <a:t> проект — учебный, </a:t>
            </a:r>
            <a:r>
              <a:rPr lang="en-US" dirty="0">
                <a:effectLst/>
                <a:latin typeface="Helvetica Neue" panose="02000503000000020004" pitchFamily="2" charset="0"/>
              </a:rPr>
              <a:t>Kaggle — production</a:t>
            </a:r>
          </a:p>
          <a:p>
            <a:pPr>
              <a:buNone/>
            </a:pPr>
            <a:r>
              <a:rPr lang="en-US" b="1" dirty="0">
                <a:effectLst/>
                <a:latin typeface="Helvetica Neue" panose="02000503000000020004" pitchFamily="2" charset="0"/>
              </a:rPr>
              <a:t>Compute: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effectLst/>
                <a:latin typeface="Helvetica Neue" panose="02000503000000020004" pitchFamily="2" charset="0"/>
              </a:rPr>
              <a:t>часы обучения </a:t>
            </a:r>
            <a:r>
              <a:rPr lang="en-US" dirty="0">
                <a:effectLst/>
                <a:latin typeface="Helvetica Neue" panose="02000503000000020004" pitchFamily="2" charset="0"/>
              </a:rPr>
              <a:t>vs </a:t>
            </a:r>
            <a:r>
              <a:rPr lang="ru-RU" dirty="0">
                <a:effectLst/>
                <a:latin typeface="Helvetica Neue" panose="02000503000000020004" pitchFamily="2" charset="0"/>
              </a:rPr>
              <a:t>минуты</a:t>
            </a: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общего (что помогло):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dist_to_ball</a:t>
            </a:r>
            <a:r>
              <a:rPr lang="en-US" dirty="0">
                <a:effectLst/>
                <a:latin typeface="Helvetica Neue" panose="02000503000000020004" pitchFamily="2" charset="0"/>
              </a:rPr>
              <a:t> — </a:t>
            </a:r>
            <a:r>
              <a:rPr lang="ru-RU" dirty="0">
                <a:effectLst/>
                <a:latin typeface="Helvetica Neue" panose="02000503000000020004" pitchFamily="2" charset="0"/>
              </a:rPr>
              <a:t>топ-признак в обоих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Velocity features 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vx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vy</a:t>
            </a:r>
            <a:r>
              <a:rPr lang="en-US" dirty="0">
                <a:effectLst/>
                <a:latin typeface="Helvetica Neue" panose="02000503000000020004" pitchFamily="2" charset="0"/>
              </a:rPr>
              <a:t>) — </a:t>
            </a:r>
            <a:r>
              <a:rPr lang="ru-RU" dirty="0">
                <a:effectLst/>
                <a:latin typeface="Helvetica Neue" panose="02000503000000020004" pitchFamily="2" charset="0"/>
              </a:rPr>
              <a:t>критически важны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Role encoding 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is_receiver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is_defense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Temporal features (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frame_id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time_remaining</a:t>
            </a:r>
            <a:r>
              <a:rPr lang="en-US" dirty="0">
                <a:effectLst/>
                <a:latin typeface="Helvetica Neue" panose="02000503000000020004" pitchFamily="2" charset="0"/>
              </a:rPr>
              <a:t>)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230D48-CA8D-9DBE-2FA1-B7FB4217AA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073" y="2239812"/>
            <a:ext cx="8111836" cy="393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753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8257-B199-DB99-190F-2C70249E3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Выводы и уроки</a:t>
            </a:r>
            <a:br>
              <a:rPr lang="ru-RU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971EB9-5E54-1EE9-DBF1-28E0A3BF5CA1}"/>
              </a:ext>
            </a:extLst>
          </p:cNvPr>
          <p:cNvSpPr txBox="1"/>
          <p:nvPr/>
        </p:nvSpPr>
        <p:spPr>
          <a:xfrm>
            <a:off x="838200" y="1174505"/>
            <a:ext cx="908685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мы сделали правильно в проекте: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dirty="0">
                <a:effectLst/>
                <a:latin typeface="Helvetica Neue" panose="02000503000000020004" pitchFamily="2" charset="0"/>
              </a:rPr>
              <a:t>Глубокий </a:t>
            </a:r>
            <a:r>
              <a:rPr lang="en-US" dirty="0">
                <a:effectLst/>
                <a:latin typeface="Helvetica Neue" panose="02000503000000020004" pitchFamily="2" charset="0"/>
              </a:rPr>
              <a:t>EDA </a:t>
            </a:r>
            <a:r>
              <a:rPr lang="ru-RU" dirty="0">
                <a:effectLst/>
                <a:latin typeface="Helvetica Neue" panose="02000503000000020004" pitchFamily="2" charset="0"/>
              </a:rPr>
              <a:t>выявил ключевые паттерны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Feature engineering </a:t>
            </a:r>
            <a:r>
              <a:rPr lang="ru-RU" dirty="0">
                <a:effectLst/>
                <a:latin typeface="Helvetica Neue" panose="02000503000000020004" pitchFamily="2" charset="0"/>
              </a:rPr>
              <a:t>на основе физики движения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dirty="0">
                <a:effectLst/>
                <a:latin typeface="Helvetica Neue" panose="02000503000000020004" pitchFamily="2" charset="0"/>
              </a:rPr>
              <a:t>Интерпретация через </a:t>
            </a:r>
            <a:r>
              <a:rPr lang="en-US" dirty="0">
                <a:effectLst/>
                <a:latin typeface="Helvetica Neue" panose="02000503000000020004" pitchFamily="2" charset="0"/>
              </a:rPr>
              <a:t>SHAP </a:t>
            </a:r>
            <a:r>
              <a:rPr lang="ru-RU" dirty="0">
                <a:effectLst/>
                <a:latin typeface="Helvetica Neue" panose="02000503000000020004" pitchFamily="2" charset="0"/>
              </a:rPr>
              <a:t>показала важность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dist_to_ball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✅ </a:t>
            </a:r>
            <a:r>
              <a:rPr lang="ru-RU" dirty="0">
                <a:effectLst/>
                <a:latin typeface="Helvetica Neue" panose="02000503000000020004" pitchFamily="2" charset="0"/>
              </a:rPr>
              <a:t>Аномалии — флаги вместо удаления</a:t>
            </a:r>
            <a:br>
              <a:rPr lang="ru-RU" dirty="0">
                <a:effectLst/>
                <a:latin typeface="Helvetica Neue" panose="02000503000000020004" pitchFamily="2" charset="0"/>
              </a:rPr>
            </a:b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Что добавило бы качества (что как раз и реализовали в </a:t>
            </a:r>
            <a:r>
              <a:rPr lang="ru-RU" b="1" dirty="0" err="1">
                <a:effectLst/>
                <a:latin typeface="Helvetica Neue" panose="02000503000000020004" pitchFamily="2" charset="0"/>
              </a:rPr>
              <a:t>Каггл</a:t>
            </a:r>
            <a:r>
              <a:rPr lang="ru-RU" b="1" dirty="0">
                <a:effectLst/>
                <a:latin typeface="Helvetica Neue" panose="02000503000000020004" pitchFamily="2" charset="0"/>
              </a:rPr>
              <a:t>):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🚀 Geometric endpoint features (</a:t>
            </a:r>
            <a:r>
              <a:rPr lang="ru-RU" dirty="0">
                <a:effectLst/>
                <a:latin typeface="Helvetica Neue" panose="02000503000000020004" pitchFamily="2" charset="0"/>
              </a:rPr>
              <a:t>прорыв!)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🚀 Sequence models (GRU/Transformer) </a:t>
            </a:r>
            <a:r>
              <a:rPr lang="ru-RU" dirty="0">
                <a:effectLst/>
                <a:latin typeface="Helvetica Neue" panose="02000503000000020004" pitchFamily="2" charset="0"/>
              </a:rPr>
              <a:t>вместо </a:t>
            </a:r>
            <a:r>
              <a:rPr lang="en-US" dirty="0">
                <a:effectLst/>
                <a:latin typeface="Helvetica Neue" panose="02000503000000020004" pitchFamily="2" charset="0"/>
              </a:rPr>
              <a:t>tabular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🚀 Multi-model ensemble </a:t>
            </a:r>
            <a:r>
              <a:rPr lang="ru-RU" dirty="0">
                <a:effectLst/>
                <a:latin typeface="Helvetica Neue" panose="02000503000000020004" pitchFamily="2" charset="0"/>
              </a:rPr>
              <a:t>с </a:t>
            </a:r>
            <a:r>
              <a:rPr lang="en-US" dirty="0">
                <a:effectLst/>
                <a:latin typeface="Helvetica Neue" panose="02000503000000020004" pitchFamily="2" charset="0"/>
              </a:rPr>
              <a:t>inverse weighting</a:t>
            </a:r>
          </a:p>
          <a:p>
            <a:pPr>
              <a:buNone/>
            </a:pPr>
            <a:r>
              <a:rPr lang="en-US" dirty="0">
                <a:effectLst/>
                <a:latin typeface="Helvetica Neue" panose="02000503000000020004" pitchFamily="2" charset="0"/>
              </a:rPr>
              <a:t>🚀 Test-Time Augmentation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Итоговое сравнение:</a:t>
            </a: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endParaRPr lang="ru-RU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effectLst/>
                <a:latin typeface="Helvetica Neue" panose="02000503000000020004" pitchFamily="2" charset="0"/>
              </a:rPr>
              <a:t>Вывод: Проектный подход дал фундаментальное понимание задачи.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Kaggle-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решение показало путь к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SOTA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через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deep learning </a:t>
            </a:r>
            <a:r>
              <a:rPr lang="ru-RU" b="1" dirty="0">
                <a:effectLst/>
                <a:latin typeface="Helvetica Neue" panose="02000503000000020004" pitchFamily="2" charset="0"/>
              </a:rPr>
              <a:t>и </a:t>
            </a:r>
            <a:r>
              <a:rPr lang="en-US" b="1" dirty="0">
                <a:effectLst/>
                <a:latin typeface="Helvetica Neue" panose="02000503000000020004" pitchFamily="2" charset="0"/>
              </a:rPr>
              <a:t>massive </a:t>
            </a:r>
            <a:r>
              <a:rPr lang="en-US" b="1" dirty="0" err="1">
                <a:effectLst/>
                <a:latin typeface="Helvetica Neue" panose="02000503000000020004" pitchFamily="2" charset="0"/>
              </a:rPr>
              <a:t>ensembling</a:t>
            </a:r>
            <a:r>
              <a:rPr lang="en-US" b="1" dirty="0">
                <a:effectLst/>
                <a:latin typeface="Helvetica Neue" panose="02000503000000020004" pitchFamily="2" charset="0"/>
              </a:rPr>
              <a:t>.</a:t>
            </a:r>
            <a:br>
              <a:rPr lang="en-US" dirty="0">
                <a:effectLst/>
                <a:latin typeface="Helvetica Neue" panose="02000503000000020004" pitchFamily="2" charset="0"/>
              </a:rPr>
            </a:br>
            <a:endParaRPr lang="en-US" dirty="0">
              <a:effectLst/>
              <a:latin typeface="Helvetica Neue" panose="02000503000000020004" pitchFamily="2" charset="0"/>
            </a:endParaRPr>
          </a:p>
          <a:p>
            <a:pPr>
              <a:buNone/>
            </a:pPr>
            <a:r>
              <a:rPr lang="ru-RU" b="1" dirty="0">
                <a:solidFill>
                  <a:schemeClr val="accent2"/>
                </a:solidFill>
                <a:effectLst/>
                <a:latin typeface="Helvetica Neue" panose="02000503000000020004" pitchFamily="2" charset="0"/>
              </a:rPr>
              <a:t>БЫЛО ДОСТИГНУТО 500 МЕСТО В МИРОВОМ РЕЙТИНГЕ</a:t>
            </a:r>
            <a:endParaRPr lang="ru-RU" dirty="0">
              <a:solidFill>
                <a:schemeClr val="accent2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0675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D146D114-FB98-2814-1BCF-D8E3C7F4F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68" y="645391"/>
            <a:ext cx="7772400" cy="19402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04B85E-B519-5E4B-03D7-35505AB2B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350" y="3079750"/>
            <a:ext cx="11738846" cy="70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45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3695</Words>
  <Application>Microsoft Macintosh PowerPoint</Application>
  <PresentationFormat>Widescreen</PresentationFormat>
  <Paragraphs>499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5" baseType="lpstr">
      <vt:lpstr>.AppleSystemUIFontMonospaced</vt:lpstr>
      <vt:lpstr>Aptos</vt:lpstr>
      <vt:lpstr>Aptos Display</vt:lpstr>
      <vt:lpstr>Arial</vt:lpstr>
      <vt:lpstr>Helvetica Neue</vt:lpstr>
      <vt:lpstr>Office Theme</vt:lpstr>
      <vt:lpstr>PowerPoint Presentation</vt:lpstr>
      <vt:lpstr>Постановка задачи</vt:lpstr>
      <vt:lpstr>Описание датасета </vt:lpstr>
      <vt:lpstr>EDA — Распределение ролей игроков</vt:lpstr>
      <vt:lpstr>PowerPoint Presentation</vt:lpstr>
      <vt:lpstr>EDA — Скорость и ускорение</vt:lpstr>
      <vt:lpstr>PowerPoint Presentation</vt:lpstr>
      <vt:lpstr>EDA — Время полёта мяча</vt:lpstr>
      <vt:lpstr>EDA — Позиции на поле</vt:lpstr>
      <vt:lpstr>PowerPoint Presentation</vt:lpstr>
      <vt:lpstr>EDA — Расстояние до мяча</vt:lpstr>
      <vt:lpstr>СЛАЙД 9: Анализ физики движения</vt:lpstr>
      <vt:lpstr>PowerPoint Presentation</vt:lpstr>
      <vt:lpstr>Feature Engineering (Baseline)</vt:lpstr>
      <vt:lpstr>Baseline модель</vt:lpstr>
      <vt:lpstr>Визуализация траекторий</vt:lpstr>
      <vt:lpstr>Промежуточные метрики</vt:lpstr>
      <vt:lpstr>Этап 2 — Цели и задачи</vt:lpstr>
      <vt:lpstr>Статистические методы поиска выбросов</vt:lpstr>
      <vt:lpstr>PowerPoint Presentation</vt:lpstr>
      <vt:lpstr>Анализ выбросов по скорости </vt:lpstr>
      <vt:lpstr>Решение по выбросам — НЕ удалять!</vt:lpstr>
      <vt:lpstr>ML-метод — Isolation Forest</vt:lpstr>
      <vt:lpstr>PowerPoint Presentation</vt:lpstr>
      <vt:lpstr>Интерпретация аномалий Isolation Forest</vt:lpstr>
      <vt:lpstr>Генерация признаков на основе аномалий</vt:lpstr>
      <vt:lpstr>KNN-признаки (соседи в пространстве)</vt:lpstr>
      <vt:lpstr>Временные признаки </vt:lpstr>
      <vt:lpstr>Матрица корреляций расширенного датасета</vt:lpstr>
      <vt:lpstr>PowerPoint Presentation</vt:lpstr>
      <vt:lpstr>Распределения координат</vt:lpstr>
      <vt:lpstr>PowerPoint Presentation</vt:lpstr>
      <vt:lpstr>PowerPoint Presentation</vt:lpstr>
      <vt:lpstr>PowerPoint Presentation</vt:lpstr>
      <vt:lpstr>Выводы по Этапу 2</vt:lpstr>
      <vt:lpstr>Переход к Этапу 3</vt:lpstr>
      <vt:lpstr>Этап 3 — Цели и задачи </vt:lpstr>
      <vt:lpstr>Обученные модели </vt:lpstr>
      <vt:lpstr>Глобальная интерпретация — SHAP Summary </vt:lpstr>
      <vt:lpstr>PowerPoint Presentation</vt:lpstr>
      <vt:lpstr>PowerPoint Presentation</vt:lpstr>
      <vt:lpstr>LIME интерпретация</vt:lpstr>
      <vt:lpstr>PowerPoint Presentation</vt:lpstr>
      <vt:lpstr>Локальная интерпретация — Waterfall </vt:lpstr>
      <vt:lpstr>PowerPoint Presentation</vt:lpstr>
      <vt:lpstr>SHAP-эмбеддинги</vt:lpstr>
      <vt:lpstr>Выявление аномалий в SHAP-пространстве </vt:lpstr>
      <vt:lpstr>Эксперимент — очистка аномалий </vt:lpstr>
      <vt:lpstr>Кластеризация SHAP-эмбеддингов Выбор K: </vt:lpstr>
      <vt:lpstr>PowerPoint Presentation</vt:lpstr>
      <vt:lpstr>Интерпретация кластеров </vt:lpstr>
      <vt:lpstr>PowerPoint Presentation</vt:lpstr>
      <vt:lpstr>Добавление кластеров как признака </vt:lpstr>
      <vt:lpstr>Граф взаимосвязей признаков </vt:lpstr>
      <vt:lpstr>PowerPoint Presentation</vt:lpstr>
      <vt:lpstr>Shapley Flow </vt:lpstr>
      <vt:lpstr>Кросс-валидация — ключевой эксперимент </vt:lpstr>
      <vt:lpstr>Оптимизация гиперпараметров (Optuna) </vt:lpstr>
      <vt:lpstr>PowerPoint Presentation</vt:lpstr>
      <vt:lpstr>Итоговая таблица экспериментов </vt:lpstr>
      <vt:lpstr>Ключевые выводы проекта </vt:lpstr>
      <vt:lpstr>Что не сработало</vt:lpstr>
      <vt:lpstr>Финальный слайд — Резюме </vt:lpstr>
      <vt:lpstr>Наше Kaggle-решение — Архитектура 🏆 </vt:lpstr>
      <vt:lpstr>Ключевые технические решения Kaggle </vt:lpstr>
      <vt:lpstr>PowerPoint Presentation</vt:lpstr>
      <vt:lpstr>Сравнение — Проект vs Kaggle </vt:lpstr>
      <vt:lpstr>Выводы и уроки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Григорий Перевощиков</dc:creator>
  <cp:lastModifiedBy>Григорий Перевощиков</cp:lastModifiedBy>
  <cp:revision>1</cp:revision>
  <dcterms:created xsi:type="dcterms:W3CDTF">2025-12-17T12:58:03Z</dcterms:created>
  <dcterms:modified xsi:type="dcterms:W3CDTF">2025-12-17T17:37:27Z</dcterms:modified>
</cp:coreProperties>
</file>